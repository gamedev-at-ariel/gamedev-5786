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76" r:id="rId9"/>
    <p:sldId id="264" r:id="rId10"/>
    <p:sldId id="266" r:id="rId11"/>
    <p:sldId id="261" r:id="rId12"/>
    <p:sldId id="280" r:id="rId13"/>
    <p:sldId id="278" r:id="rId14"/>
    <p:sldId id="262" r:id="rId15"/>
    <p:sldId id="267" r:id="rId16"/>
    <p:sldId id="279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4F5F9-AF45-42BC-A528-20C93C0C8A36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95230-24C9-4ACC-9263-7A8E543D41D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686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כשאנחנו משחקים, אנחנו מצפים שהעולם יגיב אלינו בצורה אמינה.</a:t>
            </a:r>
            <a:br>
              <a:rPr lang="he-IL" dirty="0"/>
            </a:br>
            <a:r>
              <a:rPr lang="he-IL" dirty="0"/>
              <a:t>אם אני מתקרבת בשקט מאחורה — אני מצפה שהאויב אולי לא ישים לב.</a:t>
            </a:r>
            <a:br>
              <a:rPr lang="he-IL" dirty="0"/>
            </a:br>
            <a:r>
              <a:rPr lang="he-IL" dirty="0"/>
              <a:t>אם אני זורקת רימון — אני מצפה שהוא יברח או יחפש מחסה.</a:t>
            </a:r>
          </a:p>
          <a:p>
            <a:r>
              <a:rPr lang="he-IL" dirty="0"/>
              <a:t>אבל הרבה פעמים </a:t>
            </a:r>
            <a:r>
              <a:rPr lang="en-US" dirty="0"/>
              <a:t>NPC </a:t>
            </a:r>
            <a:r>
              <a:rPr lang="he-IL" dirty="0"/>
              <a:t>מתנהג בצורה צפויה:</a:t>
            </a:r>
            <a:br>
              <a:rPr lang="he-IL" dirty="0"/>
            </a:br>
            <a:r>
              <a:rPr lang="he-IL" dirty="0"/>
              <a:t>הוא תמיד עושה את אותה תגובה בדיוק, בלי קשר למצב.</a:t>
            </a:r>
            <a:br>
              <a:rPr lang="he-IL" dirty="0"/>
            </a:br>
            <a:r>
              <a:rPr lang="he-IL" dirty="0"/>
              <a:t>ואז השחקן מרגיש שהוא “פיצח את הטריק”.</a:t>
            </a:r>
            <a:br>
              <a:rPr lang="he-IL" dirty="0"/>
            </a:br>
            <a:r>
              <a:rPr lang="he-IL" dirty="0"/>
              <a:t>כאן מתחיל האתגר של </a:t>
            </a:r>
            <a:r>
              <a:rPr lang="en-US" dirty="0"/>
              <a:t>AI </a:t>
            </a:r>
            <a:r>
              <a:rPr lang="he-IL" dirty="0"/>
              <a:t>במשחקים:</a:t>
            </a:r>
            <a:br>
              <a:rPr lang="he-IL" dirty="0"/>
            </a:br>
            <a:r>
              <a:rPr lang="he-IL" dirty="0"/>
              <a:t>לגרום לדמויות להיראות כמו מקבלי החלטות </a:t>
            </a:r>
            <a:r>
              <a:rPr lang="he-IL" dirty="0" err="1"/>
              <a:t>אמיתיות</a:t>
            </a:r>
            <a:r>
              <a:rPr lang="he-IL" dirty="0"/>
              <a:t>.</a:t>
            </a:r>
          </a:p>
          <a:p>
            <a:r>
              <a:rPr lang="en-US" dirty="0"/>
              <a:t>https://www.youtube.com/watch?v=WwgXM65y2HY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1242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לפני ש-</a:t>
            </a:r>
            <a:r>
              <a:rPr lang="en-US" dirty="0"/>
              <a:t>GOAP </a:t>
            </a:r>
            <a:r>
              <a:rPr lang="he-IL" dirty="0"/>
              <a:t>נכנס לתמונה,</a:t>
            </a:r>
            <a:br>
              <a:rPr lang="he-IL" dirty="0"/>
            </a:br>
            <a:r>
              <a:rPr lang="he-IL" dirty="0"/>
              <a:t>רוב הבינה המלאכותית במשחקים נבנתה בגישות יחסית פשוטות וישירות.</a:t>
            </a:r>
          </a:p>
          <a:p>
            <a:r>
              <a:rPr lang="he-IL" dirty="0"/>
              <a:t>אחת הגישות הנפוצות היא </a:t>
            </a:r>
            <a:r>
              <a:rPr lang="en-US" b="1" dirty="0"/>
              <a:t>Finite State Machine</a:t>
            </a:r>
            <a:r>
              <a:rPr lang="en-US" dirty="0"/>
              <a:t>.</a:t>
            </a:r>
            <a:br>
              <a:rPr lang="en-US" dirty="0"/>
            </a:br>
            <a:r>
              <a:rPr lang="he-IL" dirty="0"/>
              <a:t>לדמות יש מצבים כמו:</a:t>
            </a:r>
            <a:br>
              <a:rPr lang="he-IL" dirty="0"/>
            </a:br>
            <a:r>
              <a:rPr lang="en-US" dirty="0"/>
              <a:t>Patrol, Alert, Attack, Search.</a:t>
            </a:r>
            <a:br>
              <a:rPr lang="en-US" dirty="0"/>
            </a:br>
            <a:r>
              <a:rPr lang="he-IL" dirty="0"/>
              <a:t>והמעברים ביניהם מוגדרים מראש.</a:t>
            </a:r>
          </a:p>
          <a:p>
            <a:r>
              <a:rPr lang="he-IL" dirty="0"/>
              <a:t>זה פתרון שעובד טוב למשחקים קטנים או למצבים פשוטים,</a:t>
            </a:r>
            <a:br>
              <a:rPr lang="he-IL" dirty="0"/>
            </a:br>
            <a:r>
              <a:rPr lang="he-IL" dirty="0"/>
              <a:t>אבל ככל שמוסיפים יותר תנאים –</a:t>
            </a:r>
            <a:br>
              <a:rPr lang="he-IL" dirty="0"/>
            </a:br>
            <a:r>
              <a:rPr lang="he-IL" dirty="0"/>
              <a:t>למשל: תחמושת, בריאות, מספר אויבים, מיקום –</a:t>
            </a:r>
            <a:br>
              <a:rPr lang="he-IL" dirty="0"/>
            </a:br>
            <a:r>
              <a:rPr lang="he-IL" dirty="0"/>
              <a:t>מספר המצבים והמעברים גדל בצורה לא נשלטת.</a:t>
            </a:r>
          </a:p>
          <a:p>
            <a:r>
              <a:rPr lang="he-IL" dirty="0"/>
              <a:t>גישה נוספת היא כתיבה של </a:t>
            </a:r>
            <a:r>
              <a:rPr lang="en-US" b="1" dirty="0"/>
              <a:t>Scripts </a:t>
            </a:r>
            <a:r>
              <a:rPr lang="he-IL" b="1" dirty="0"/>
              <a:t>או </a:t>
            </a:r>
            <a:r>
              <a:rPr lang="en-US" b="1" dirty="0"/>
              <a:t>If-Else</a:t>
            </a:r>
            <a:r>
              <a:rPr lang="en-US" dirty="0"/>
              <a:t>:</a:t>
            </a:r>
            <a:br>
              <a:rPr lang="en-US" dirty="0"/>
            </a:br>
            <a:r>
              <a:rPr lang="he-IL" dirty="0"/>
              <a:t>אם ראיתי אויב – תתקוף,</a:t>
            </a:r>
            <a:br>
              <a:rPr lang="he-IL" dirty="0"/>
            </a:br>
            <a:r>
              <a:rPr lang="he-IL" dirty="0"/>
              <a:t>אם אין תחמושת – תטען,</a:t>
            </a:r>
            <a:br>
              <a:rPr lang="he-IL" dirty="0"/>
            </a:br>
            <a:r>
              <a:rPr lang="he-IL" dirty="0"/>
              <a:t>אם הבריאות נמוכה – תברח.</a:t>
            </a:r>
            <a:br>
              <a:rPr lang="he-IL" dirty="0"/>
            </a:br>
            <a:r>
              <a:rPr lang="he-IL" dirty="0"/>
              <a:t>גם כאן, ככל שהמשחק נהיה מורכב, הקוד נהיה מסובך וקשה לתחזוקה.</a:t>
            </a:r>
          </a:p>
          <a:p>
            <a:r>
              <a:rPr lang="en-US" b="1" dirty="0"/>
              <a:t>Behavior Trees</a:t>
            </a:r>
            <a:r>
              <a:rPr lang="en-US" dirty="0"/>
              <a:t> </a:t>
            </a:r>
            <a:r>
              <a:rPr lang="he-IL" dirty="0"/>
              <a:t>הם שיפור מבחינת סדר וקריאות,</a:t>
            </a:r>
            <a:br>
              <a:rPr lang="he-IL" dirty="0"/>
            </a:br>
            <a:r>
              <a:rPr lang="he-IL" dirty="0"/>
              <a:t>אבל ברוב המקרים גם הם מגדירים רצף החלטות יחסית קבוע,</a:t>
            </a:r>
            <a:br>
              <a:rPr lang="he-IL" dirty="0"/>
            </a:br>
            <a:r>
              <a:rPr lang="he-IL" dirty="0"/>
              <a:t>ולא מאפשרים לדמות “להמציא” דרך חדשה לפעול.</a:t>
            </a:r>
          </a:p>
          <a:p>
            <a:r>
              <a:rPr lang="he-IL" dirty="0"/>
              <a:t>התוצאה בכל השיטות האלה דומה:</a:t>
            </a:r>
            <a:br>
              <a:rPr lang="he-IL" dirty="0"/>
            </a:br>
            <a:r>
              <a:rPr lang="he-IL" dirty="0"/>
              <a:t>ההתנהגות של ה־</a:t>
            </a:r>
            <a:r>
              <a:rPr lang="en-US" dirty="0"/>
              <a:t>NPC </a:t>
            </a:r>
            <a:r>
              <a:rPr lang="he-IL" dirty="0"/>
              <a:t>הופכת להיות </a:t>
            </a:r>
            <a:r>
              <a:rPr lang="he-IL" b="1" dirty="0"/>
              <a:t>קשיחה וצפויה</a:t>
            </a:r>
            <a:r>
              <a:rPr lang="he-IL" dirty="0"/>
              <a:t>,</a:t>
            </a:r>
            <a:br>
              <a:rPr lang="he-IL" dirty="0"/>
            </a:br>
            <a:r>
              <a:rPr lang="he-IL" dirty="0"/>
              <a:t>והשחקן לומד מהר איך “לעבוד על המערכת”.</a:t>
            </a:r>
          </a:p>
          <a:p>
            <a:br>
              <a:rPr lang="en-US" dirty="0"/>
            </a:br>
            <a:r>
              <a:rPr lang="he-IL" dirty="0"/>
              <a:t>השאלה היא:</a:t>
            </a:r>
            <a:br>
              <a:rPr lang="he-IL" dirty="0"/>
            </a:br>
            <a:r>
              <a:rPr lang="he-IL" dirty="0"/>
              <a:t>האם במקום לכתוב לדמות את כל האפשרויות מראש,</a:t>
            </a:r>
            <a:br>
              <a:rPr lang="he-IL" dirty="0"/>
            </a:br>
            <a:r>
              <a:rPr lang="he-IL" dirty="0"/>
              <a:t>אפשר לתת לה </a:t>
            </a:r>
            <a:r>
              <a:rPr lang="he-IL" b="1" dirty="0"/>
              <a:t>מטרה</a:t>
            </a:r>
            <a:r>
              <a:rPr lang="he-IL" dirty="0"/>
              <a:t>,</a:t>
            </a:r>
            <a:br>
              <a:rPr lang="he-IL" dirty="0"/>
            </a:br>
            <a:r>
              <a:rPr lang="he-IL" dirty="0"/>
              <a:t>ולאפשר לה </a:t>
            </a:r>
            <a:r>
              <a:rPr lang="he-IL" b="1" dirty="0"/>
              <a:t>לבנות לבד את הדרך אליה</a:t>
            </a:r>
            <a:r>
              <a:rPr lang="he-IL" dirty="0"/>
              <a:t>?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1355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 </a:t>
            </a:r>
            <a:r>
              <a:rPr lang="en-US" dirty="0"/>
              <a:t>GOAP </a:t>
            </a:r>
            <a:r>
              <a:rPr lang="he-IL" dirty="0"/>
              <a:t> זו גישה לבינה מלאכותית במשחקים שבה אנחנו לא כותבים לדמות “תסריט” קשיח, אלא מגדירים לה מטרות וסט של פעולות אפשריות, והדמות בונה לעצמה </a:t>
            </a:r>
            <a:r>
              <a:rPr lang="he-IL" dirty="0" err="1"/>
              <a:t>תוכנית</a:t>
            </a:r>
            <a:r>
              <a:rPr lang="he-IL" dirty="0"/>
              <a:t> פעולה כדי להשיג את המטרה.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he-IL" dirty="0"/>
              <a:t>זה ההבדל המרכזי: מערכות קלאסיות כמו </a:t>
            </a:r>
            <a:r>
              <a:rPr lang="en-US" dirty="0"/>
              <a:t>FSM </a:t>
            </a:r>
            <a:r>
              <a:rPr lang="he-IL" dirty="0"/>
              <a:t>או סקריפטים אומרות לדמות בדיוק מה לעשות בכל מצב.</a:t>
            </a:r>
          </a:p>
          <a:p>
            <a:pPr algn="r" rtl="1"/>
            <a:r>
              <a:rPr lang="he-IL" dirty="0"/>
              <a:t> </a:t>
            </a:r>
            <a:r>
              <a:rPr lang="en-US" dirty="0"/>
              <a:t>GOAP </a:t>
            </a:r>
            <a:r>
              <a:rPr lang="he-IL" dirty="0"/>
              <a:t> מאפשר לדמות להחליט לא רק מה לעשות, אלא גם איך להגיע לשם.</a:t>
            </a:r>
            <a:br>
              <a:rPr lang="en-US" dirty="0"/>
            </a:br>
            <a:endParaRPr lang="he-IL" dirty="0"/>
          </a:p>
          <a:p>
            <a:pPr algn="r" rtl="1"/>
            <a:r>
              <a:rPr lang="he-IL" dirty="0"/>
              <a:t> כדי שזה יעבוד, כל פעולה במשחק מוגדרת בצורה פורמלית: מה התנאים שצריכים להיות נכון כדי לבצע אותה (</a:t>
            </a:r>
            <a:r>
              <a:rPr lang="en-US" dirty="0"/>
              <a:t>Preconditions), </a:t>
            </a:r>
            <a:r>
              <a:rPr lang="he-IL" dirty="0"/>
              <a:t>מה היא גורמת בעולם (</a:t>
            </a:r>
            <a:r>
              <a:rPr lang="en-US" dirty="0"/>
              <a:t>Effects), </a:t>
            </a:r>
            <a:r>
              <a:rPr lang="he-IL" dirty="0"/>
              <a:t>וכמה היא “יקרה” או פחות מועדפת (</a:t>
            </a:r>
            <a:r>
              <a:rPr lang="en-US" dirty="0"/>
              <a:t>Cost).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he-IL" dirty="0"/>
          </a:p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8513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7687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3442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) </a:t>
            </a:r>
            <a:r>
              <a:rPr lang="en-US" b="1" dirty="0"/>
              <a:t>Starting State</a:t>
            </a:r>
            <a:r>
              <a:rPr lang="he-IL" dirty="0"/>
              <a:t>מה נכון עכשיו בעולם)</a:t>
            </a:r>
          </a:p>
          <a:p>
            <a:pPr algn="r" rtl="1"/>
            <a:r>
              <a:rPr lang="en-US" dirty="0"/>
              <a:t> </a:t>
            </a:r>
            <a:r>
              <a:rPr lang="en-US" b="1" dirty="0"/>
              <a:t>Goal State</a:t>
            </a:r>
            <a:r>
              <a:rPr lang="en-US" dirty="0"/>
              <a:t> </a:t>
            </a:r>
            <a:r>
              <a:rPr lang="he-IL" dirty="0"/>
              <a:t>(התנאים שצריכים להיות נכונים כדי לומר “הצלחתי”)</a:t>
            </a:r>
          </a:p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6930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br>
              <a:rPr lang="en-US" b="1" dirty="0"/>
            </a:br>
            <a:r>
              <a:rPr lang="he-IL" dirty="0"/>
              <a:t>נניח אויב במשחק יריות רואה את השחקן, אבל אין לו תחמושת </a:t>
            </a:r>
            <a:r>
              <a:rPr lang="he-IL" i="1" dirty="0"/>
              <a:t>(</a:t>
            </a:r>
            <a:r>
              <a:rPr lang="he-IL" dirty="0"/>
              <a:t>מצב עולם נוכחי</a:t>
            </a:r>
            <a:r>
              <a:rPr lang="he-IL" i="1" dirty="0"/>
              <a:t>– </a:t>
            </a:r>
            <a:r>
              <a:rPr lang="en-US" i="1" dirty="0"/>
              <a:t>.(World State</a:t>
            </a:r>
            <a:br>
              <a:rPr lang="en-US" dirty="0"/>
            </a:br>
            <a:r>
              <a:rPr lang="he-IL" dirty="0"/>
              <a:t>המטרה שלו יכולה להיות </a:t>
            </a:r>
            <a:r>
              <a:rPr lang="he-IL" b="1" dirty="0"/>
              <a:t>“להישאר בחיים” או “להיות בטוח”</a:t>
            </a:r>
            <a:r>
              <a:rPr lang="he-IL" dirty="0"/>
              <a:t> </a:t>
            </a:r>
            <a:r>
              <a:rPr lang="he-IL" i="1" dirty="0"/>
              <a:t>(</a:t>
            </a:r>
            <a:r>
              <a:rPr lang="en-US" i="1" dirty="0"/>
              <a:t>Goal)</a:t>
            </a:r>
            <a:r>
              <a:rPr lang="en-US" dirty="0"/>
              <a:t>.</a:t>
            </a:r>
            <a:br>
              <a:rPr lang="en-US" dirty="0"/>
            </a:br>
            <a:r>
              <a:rPr lang="he-IL" dirty="0"/>
              <a:t>יש לו פעולות כמו </a:t>
            </a:r>
            <a:r>
              <a:rPr lang="he-IL" b="1" dirty="0"/>
              <a:t>“להיכנס למחסה”, “לטעון נשק”, </a:t>
            </a:r>
            <a:r>
              <a:rPr lang="he-IL" b="1" dirty="0" err="1"/>
              <a:t>ו“לתקוף</a:t>
            </a:r>
            <a:r>
              <a:rPr lang="he-IL" b="1" dirty="0"/>
              <a:t>”</a:t>
            </a:r>
            <a:r>
              <a:rPr lang="he-IL" dirty="0"/>
              <a:t> </a:t>
            </a:r>
            <a:r>
              <a:rPr lang="he-IL" i="1" dirty="0"/>
              <a:t>(</a:t>
            </a:r>
            <a:r>
              <a:rPr lang="en-US" i="1" dirty="0"/>
              <a:t>Actions)</a:t>
            </a:r>
            <a:r>
              <a:rPr lang="en-US" dirty="0"/>
              <a:t>.</a:t>
            </a:r>
            <a:br>
              <a:rPr lang="en-US" dirty="0"/>
            </a:br>
            <a:r>
              <a:rPr lang="he-IL" dirty="0"/>
              <a:t>במקום שנכתוב לו ידנית “אם אין תחמושת אז…”,</a:t>
            </a:r>
            <a:br>
              <a:rPr lang="he-IL" dirty="0"/>
            </a:br>
            <a:r>
              <a:rPr lang="he-IL" dirty="0"/>
              <a:t>ה־</a:t>
            </a:r>
            <a:r>
              <a:rPr lang="en-US" dirty="0"/>
              <a:t> </a:t>
            </a:r>
            <a:r>
              <a:rPr lang="en-US" b="1" dirty="0"/>
              <a:t>GOAP</a:t>
            </a:r>
            <a:r>
              <a:rPr lang="en-US" dirty="0"/>
              <a:t> </a:t>
            </a:r>
            <a:r>
              <a:rPr lang="he-IL" dirty="0"/>
              <a:t>יבנה לבד </a:t>
            </a:r>
            <a:r>
              <a:rPr lang="he-IL" b="1" dirty="0" err="1"/>
              <a:t>תוכנית</a:t>
            </a:r>
            <a:r>
              <a:rPr lang="he-IL" b="1" dirty="0"/>
              <a:t> פעולה</a:t>
            </a:r>
            <a:r>
              <a:rPr lang="he-IL" dirty="0"/>
              <a:t> </a:t>
            </a:r>
            <a:r>
              <a:rPr lang="en-US" i="1" dirty="0"/>
              <a:t>(Plan)</a:t>
            </a:r>
            <a:r>
              <a:rPr lang="en-US" dirty="0"/>
              <a:t> </a:t>
            </a:r>
            <a:r>
              <a:rPr lang="he-IL" dirty="0"/>
              <a:t>כמו:</a:t>
            </a:r>
            <a:br>
              <a:rPr lang="he-IL" dirty="0"/>
            </a:br>
            <a:r>
              <a:rPr lang="he-IL" b="1" dirty="0"/>
              <a:t>לתקוף→ לטעון → להיכנס למחסה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ואז מגיע ה־</a:t>
            </a:r>
            <a:r>
              <a:rPr lang="en-US" dirty="0"/>
              <a:t> </a:t>
            </a:r>
            <a:r>
              <a:rPr lang="en-US" b="1" dirty="0"/>
              <a:t>Planner</a:t>
            </a:r>
            <a:r>
              <a:rPr lang="en-US" dirty="0"/>
              <a:t> </a:t>
            </a:r>
            <a:r>
              <a:rPr lang="he-IL" i="1" dirty="0"/>
              <a:t>(</a:t>
            </a:r>
            <a:r>
              <a:rPr lang="he-IL" dirty="0"/>
              <a:t>מנוע התכנון</a:t>
            </a:r>
            <a:r>
              <a:rPr lang="he-IL" i="1" dirty="0"/>
              <a:t>)</a:t>
            </a:r>
            <a:r>
              <a:rPr lang="he-IL" dirty="0"/>
              <a:t>:</a:t>
            </a:r>
            <a:br>
              <a:rPr lang="he-IL" dirty="0"/>
            </a:br>
            <a:r>
              <a:rPr lang="he-IL" dirty="0"/>
              <a:t>הוא לוקח את </a:t>
            </a:r>
            <a:r>
              <a:rPr lang="he-IL" b="1" dirty="0"/>
              <a:t>מצב העולם הנוכחי</a:t>
            </a:r>
            <a:r>
              <a:rPr lang="en-US" b="1" dirty="0"/>
              <a:t> (</a:t>
            </a:r>
            <a:r>
              <a:rPr lang="en-US" i="1" dirty="0"/>
              <a:t>World State)</a:t>
            </a:r>
            <a:r>
              <a:rPr lang="en-US" dirty="0"/>
              <a:t> </a:t>
            </a:r>
            <a:r>
              <a:rPr lang="he-IL" dirty="0"/>
              <a:t>ואת </a:t>
            </a:r>
            <a:r>
              <a:rPr lang="he-IL" b="1" dirty="0"/>
              <a:t>המטרה</a:t>
            </a:r>
            <a:r>
              <a:rPr lang="he-IL" dirty="0"/>
              <a:t> </a:t>
            </a:r>
            <a:r>
              <a:rPr lang="en-US" i="1" dirty="0"/>
              <a:t>(Goal)</a:t>
            </a:r>
            <a:br>
              <a:rPr lang="en-US" dirty="0"/>
            </a:br>
            <a:r>
              <a:rPr lang="he-IL" dirty="0"/>
              <a:t>ומחפש </a:t>
            </a:r>
            <a:r>
              <a:rPr lang="he-IL" b="1" dirty="0"/>
              <a:t>רצף פעולות</a:t>
            </a:r>
            <a:r>
              <a:rPr lang="he-IL" dirty="0"/>
              <a:t> </a:t>
            </a:r>
            <a:r>
              <a:rPr lang="en-US" dirty="0"/>
              <a:t> (</a:t>
            </a:r>
            <a:r>
              <a:rPr lang="en-US" i="1" dirty="0"/>
              <a:t>Plan)</a:t>
            </a:r>
            <a:r>
              <a:rPr lang="en-US" dirty="0"/>
              <a:t> </a:t>
            </a:r>
            <a:r>
              <a:rPr lang="he-IL" dirty="0"/>
              <a:t>שמוביל למצב הרצוי בעלות הטובה ביותר.</a:t>
            </a:r>
            <a:br>
              <a:rPr lang="he-IL" dirty="0"/>
            </a:br>
            <a:r>
              <a:rPr lang="he-IL" dirty="0"/>
              <a:t>בגלל זה הדמות יכולה להיראות פחות צפויה, יותר מסתגלת, ופחות חוזרת על עצמה.</a:t>
            </a:r>
            <a:br>
              <a:rPr lang="en-US" b="1" dirty="0"/>
            </a:br>
            <a:r>
              <a:rPr lang="en-US" b="1" dirty="0"/>
              <a:t>Plan A</a:t>
            </a:r>
          </a:p>
          <a:p>
            <a:pPr algn="r"/>
            <a:r>
              <a:rPr lang="he-IL" b="1" dirty="0"/>
              <a:t>להיכנס למחסה → לטעון → לתקוף</a:t>
            </a:r>
            <a:endParaRPr lang="he-IL" dirty="0"/>
          </a:p>
          <a:p>
            <a:pPr algn="r"/>
            <a:r>
              <a:rPr lang="en-US" dirty="0" err="1"/>
              <a:t>TakeCover</a:t>
            </a:r>
            <a:r>
              <a:rPr lang="en-US" dirty="0"/>
              <a:t> (Cost 1)</a:t>
            </a:r>
          </a:p>
          <a:p>
            <a:pPr algn="r"/>
            <a:r>
              <a:rPr lang="en-US" dirty="0"/>
              <a:t>Reload (Cost 2)</a:t>
            </a:r>
          </a:p>
          <a:p>
            <a:pPr algn="r"/>
            <a:r>
              <a:rPr lang="en-US" dirty="0"/>
              <a:t>Attack (Cost 3)</a:t>
            </a:r>
            <a:br>
              <a:rPr lang="en-US" dirty="0"/>
            </a:br>
            <a:r>
              <a:rPr lang="he-IL" dirty="0"/>
              <a:t>סה״כ: </a:t>
            </a:r>
            <a:r>
              <a:rPr lang="he-IL" b="1" dirty="0"/>
              <a:t>6</a:t>
            </a:r>
            <a:endParaRPr lang="he-IL" dirty="0"/>
          </a:p>
          <a:p>
            <a:pPr algn="r"/>
            <a:r>
              <a:rPr lang="en-US" b="1" dirty="0"/>
              <a:t>Plan B</a:t>
            </a:r>
          </a:p>
          <a:p>
            <a:pPr algn="r"/>
            <a:r>
              <a:rPr lang="he-IL" b="1" dirty="0"/>
              <a:t>לברוח → לטעון → לתקוף</a:t>
            </a:r>
            <a:endParaRPr lang="he-IL" dirty="0"/>
          </a:p>
          <a:p>
            <a:pPr algn="r"/>
            <a:r>
              <a:rPr lang="en-US" dirty="0"/>
              <a:t>Retreat (Cost 4)</a:t>
            </a:r>
          </a:p>
          <a:p>
            <a:pPr algn="r"/>
            <a:r>
              <a:rPr lang="en-US" dirty="0"/>
              <a:t>Reload (Cost 2)</a:t>
            </a:r>
          </a:p>
          <a:p>
            <a:pPr algn="r"/>
            <a:r>
              <a:rPr lang="en-US" dirty="0"/>
              <a:t>Attack (Cost 3)</a:t>
            </a:r>
            <a:br>
              <a:rPr lang="en-US" dirty="0"/>
            </a:br>
            <a:r>
              <a:rPr lang="he-IL" dirty="0"/>
              <a:t>סה״כ: </a:t>
            </a:r>
            <a:r>
              <a:rPr lang="he-IL" b="1" dirty="0"/>
              <a:t>9</a:t>
            </a:r>
            <a:endParaRPr lang="he-IL" dirty="0"/>
          </a:p>
          <a:p>
            <a:pPr algn="r"/>
            <a:r>
              <a:rPr lang="he-IL" dirty="0"/>
              <a:t>ה־</a:t>
            </a:r>
            <a:r>
              <a:rPr lang="en-US" dirty="0"/>
              <a:t>Planner </a:t>
            </a:r>
            <a:r>
              <a:rPr lang="he-IL" dirty="0"/>
              <a:t>יבחר את </a:t>
            </a:r>
            <a:r>
              <a:rPr lang="en-US" b="1" dirty="0"/>
              <a:t>Plan A</a:t>
            </a:r>
            <a:r>
              <a:rPr lang="en-US" dirty="0"/>
              <a:t>, </a:t>
            </a:r>
            <a:r>
              <a:rPr lang="he-IL" dirty="0"/>
              <a:t>כי הוא משיג את אותה מטרה בעלות נמוכה יותר.</a:t>
            </a:r>
          </a:p>
          <a:p>
            <a:pPr algn="r"/>
            <a:r>
              <a:rPr lang="he-IL" b="1" dirty="0"/>
              <a:t>מה קובע את ה-</a:t>
            </a:r>
            <a:r>
              <a:rPr lang="en-US" b="1" dirty="0"/>
              <a:t>Cost?</a:t>
            </a:r>
          </a:p>
          <a:p>
            <a:pPr algn="r"/>
            <a:r>
              <a:rPr lang="he-IL" dirty="0"/>
              <a:t>העלות היא מספר שאת קובעת כדי לבטא:</a:t>
            </a:r>
          </a:p>
          <a:p>
            <a:pPr algn="r"/>
            <a:r>
              <a:rPr lang="he-IL" dirty="0"/>
              <a:t>זמן (טעינה לוקחת זמן)</a:t>
            </a:r>
          </a:p>
          <a:p>
            <a:pPr algn="r"/>
            <a:r>
              <a:rPr lang="he-IL" dirty="0"/>
              <a:t>סיכון (לתקוף בלי מחסה מסוכן)</a:t>
            </a:r>
          </a:p>
          <a:p>
            <a:pPr algn="r"/>
            <a:r>
              <a:rPr lang="he-IL" dirty="0"/>
              <a:t>“משאבים” (לזרוק רימון אולי יקר)</a:t>
            </a:r>
          </a:p>
          <a:p>
            <a:pPr algn="r"/>
            <a:r>
              <a:rPr lang="he-IL" dirty="0"/>
              <a:t>העדפה עיצובית (שאת רוצה שה-</a:t>
            </a:r>
            <a:r>
              <a:rPr lang="en-US" dirty="0"/>
              <a:t>AI </a:t>
            </a:r>
            <a:r>
              <a:rPr lang="he-IL" dirty="0"/>
              <a:t>יעדיף מחסה על פני ריצה פתוחה)</a:t>
            </a:r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5353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עכשיו, אחרי שהבנו מה </a:t>
            </a:r>
            <a:r>
              <a:rPr lang="en-US" dirty="0"/>
              <a:t>GOAP </a:t>
            </a:r>
            <a:r>
              <a:rPr lang="he-IL" dirty="0"/>
              <a:t> נותן לנו, השאלה היא איך מממשים את זה בפועל.</a:t>
            </a:r>
            <a:br>
              <a:rPr lang="he-IL" dirty="0"/>
            </a:br>
            <a:r>
              <a:rPr lang="he-IL" dirty="0"/>
              <a:t>כדי שדמות תוכל לבנות לעצמה </a:t>
            </a:r>
            <a:r>
              <a:rPr lang="he-IL" dirty="0" err="1"/>
              <a:t>תוכנית</a:t>
            </a:r>
            <a:r>
              <a:rPr lang="he-IL" dirty="0"/>
              <a:t>, יש שני דברים שחייבים לפתור:</a:t>
            </a:r>
            <a:br>
              <a:rPr lang="he-IL" dirty="0"/>
            </a:br>
            <a:r>
              <a:rPr lang="he-IL" dirty="0"/>
              <a:t>אחד, איך ה־</a:t>
            </a:r>
            <a:r>
              <a:rPr lang="en-US" dirty="0"/>
              <a:t>Planner </a:t>
            </a:r>
            <a:r>
              <a:rPr lang="he-IL" dirty="0"/>
              <a:t>מוצא רצף פעולות נכון מהר ולא בודק את כל האפשרויות.</a:t>
            </a:r>
            <a:br>
              <a:rPr lang="he-IL" dirty="0"/>
            </a:br>
            <a:r>
              <a:rPr lang="he-IL" dirty="0"/>
              <a:t>והשני, איך אנחנו מייצגים את מצב העולם בצורה פשוטה — רק עובדות רלוונטיות — כדי שהחיפוש יהיה יעיל.</a:t>
            </a:r>
            <a:br>
              <a:rPr lang="he-IL" dirty="0"/>
            </a:br>
            <a:r>
              <a:rPr lang="he-IL" dirty="0"/>
              <a:t>החדשות הטובות הן שבמשחקים אפשר להשתמש בפתרונות פרקטיים ופשוטים.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1466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ככל שמשחקים מתקדמים, מצפים מהדמויות להתנהג בצורה יותר חכמה, פחות צפויה ויותר מסתגלת.</a:t>
            </a:r>
            <a:br>
              <a:rPr lang="he-IL" dirty="0"/>
            </a:br>
            <a:r>
              <a:rPr lang="he-IL" dirty="0"/>
              <a:t>אבל אם בונים את זה עם סקריפטים או </a:t>
            </a:r>
            <a:r>
              <a:rPr lang="en-US" dirty="0"/>
              <a:t>FSM </a:t>
            </a:r>
            <a:r>
              <a:rPr lang="he-IL" dirty="0"/>
              <a:t>קשיח, כל תוספת קטנה גוררת המון שינויי קוד ונהיה קשה לתחזק ולהרחיב.</a:t>
            </a:r>
            <a:br>
              <a:rPr lang="he-IL" dirty="0"/>
            </a:br>
            <a:r>
              <a:rPr lang="he-IL" dirty="0"/>
              <a:t>לכן צריך גישה יותר מסודרת — מערכת שמאפשרת להגדיר מטרות ופעולות, והדמות תבנה לעצמה </a:t>
            </a:r>
            <a:r>
              <a:rPr lang="he-IL" dirty="0" err="1"/>
              <a:t>תוכנית</a:t>
            </a:r>
            <a:r>
              <a:rPr lang="he-IL" dirty="0"/>
              <a:t> בזמן אמת.</a:t>
            </a:r>
            <a:br>
              <a:rPr lang="he-IL" dirty="0"/>
            </a:br>
            <a:r>
              <a:rPr lang="en-US" dirty="0"/>
              <a:t>GOAP </a:t>
            </a:r>
            <a:r>
              <a:rPr lang="he-IL" dirty="0"/>
              <a:t>הוא פתרון כזה: במקום להגיד לדמות בדיוק “מה לעשות בכל מצב”, אנחנו נותנים לה כלים והיא מחליטה לבד — וזה מאפשר התנהגות שמרגישה יותר “חיה” וגם הרבה יותר נוחה לפיתוח לאורך זמן.</a:t>
            </a:r>
          </a:p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95230-24C9-4ACC-9263-7A8E543D41D1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6682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279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743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086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4216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41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490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59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8624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453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124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8299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6114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8366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38964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2235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2154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673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1A8F4F-75DA-46C4-9848-C886F93AE8D5}" type="datetimeFigureOut">
              <a:rPr lang="en-IL" smtClean="0"/>
              <a:t>01/14/2026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1965CEB-253C-4699-A0D0-54DF8A3D90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6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6064-F77B-4671-84B0-A4752D3F5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293" y="879843"/>
            <a:ext cx="8174971" cy="3285866"/>
          </a:xfrm>
        </p:spPr>
        <p:txBody>
          <a:bodyPr>
            <a:normAutofit/>
          </a:bodyPr>
          <a:lstStyle/>
          <a:p>
            <a:pPr algn="ctr"/>
            <a:r>
              <a:rPr lang="en-US" sz="6200" dirty="0"/>
              <a:t>Applying Goal-Oriented Action Planning to Games</a:t>
            </a:r>
            <a:endParaRPr lang="en-IL" sz="6200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C789781-60D4-D1F4-C7C6-E152ADAA1748}"/>
              </a:ext>
            </a:extLst>
          </p:cNvPr>
          <p:cNvSpPr txBox="1"/>
          <p:nvPr/>
        </p:nvSpPr>
        <p:spPr>
          <a:xfrm>
            <a:off x="5927835" y="5267231"/>
            <a:ext cx="6362963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מאת: אביב נאמן וגל מימון.</a:t>
            </a:r>
          </a:p>
        </p:txBody>
      </p:sp>
    </p:spTree>
    <p:extLst>
      <p:ext uri="{BB962C8B-B14F-4D97-AF65-F5344CB8AC3E}">
        <p14:creationId xmlns:p14="http://schemas.microsoft.com/office/powerpoint/2010/main" val="617370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1E0A-B7CA-4042-8ED2-61D4C6A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r>
              <a:rPr lang="he-IL" sz="3600" b="1" dirty="0"/>
              <a:t>הקדמה</a:t>
            </a:r>
            <a:endParaRPr lang="en-IL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B905-9402-49E6-94E9-A80188A2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2000" dirty="0"/>
              <a:t>בינה מלאכותית במשחקים-האתגר</a:t>
            </a:r>
            <a:r>
              <a:rPr lang="en-US" sz="2000" dirty="0"/>
              <a:t>: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איך גורמים לדמויות במשחק להיראות חכמות</a:t>
            </a:r>
          </a:p>
          <a:p>
            <a:pPr lvl="1" algn="r" rtl="1"/>
            <a:r>
              <a:rPr lang="he-IL" dirty="0"/>
              <a:t>שחקנית מצפים ש – </a:t>
            </a:r>
            <a:r>
              <a:rPr lang="en-US" dirty="0"/>
              <a:t>(Non-Player Characters) NPC</a:t>
            </a:r>
            <a:r>
              <a:rPr lang="he-IL" dirty="0"/>
              <a:t> יגיבו בצורה הגיונית.</a:t>
            </a:r>
          </a:p>
          <a:p>
            <a:pPr lvl="1" algn="r" rtl="1"/>
            <a:r>
              <a:rPr lang="he-IL" dirty="0"/>
              <a:t>התנהגות קבועה יוצרת </a:t>
            </a:r>
            <a:r>
              <a:rPr lang="he-IL" dirty="0" err="1"/>
              <a:t>חזרתיות</a:t>
            </a:r>
            <a:r>
              <a:rPr lang="he-IL" dirty="0"/>
              <a:t> צפויה.</a:t>
            </a:r>
          </a:p>
          <a:p>
            <a:pPr lvl="1" algn="r" rtl="1"/>
            <a:r>
              <a:rPr lang="en-US" dirty="0"/>
              <a:t>AI</a:t>
            </a:r>
            <a:r>
              <a:rPr lang="he-IL" dirty="0"/>
              <a:t> לא אמין פוגע </a:t>
            </a:r>
            <a:r>
              <a:rPr lang="he-IL" dirty="0" err="1"/>
              <a:t>בחווית</a:t>
            </a:r>
            <a:r>
              <a:rPr lang="he-IL" dirty="0"/>
              <a:t> המשחק.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13979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עץ קטן">
            <a:extLst>
              <a:ext uri="{FF2B5EF4-FFF2-40B4-BE49-F238E27FC236}">
                <a16:creationId xmlns:a16="http://schemas.microsoft.com/office/drawing/2014/main" id="{D5787C85-2E57-6B58-DD89-C499E90E94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3848" b="118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F31E0A-B7CA-4042-8ED2-61D4C6A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9099"/>
            <a:ext cx="3647493" cy="4965833"/>
          </a:xfrm>
        </p:spPr>
        <p:txBody>
          <a:bodyPr>
            <a:normAutofit/>
          </a:bodyPr>
          <a:lstStyle/>
          <a:p>
            <a:pPr algn="r" rtl="1"/>
            <a:r>
              <a:rPr lang="he-IL" b="1" dirty="0"/>
              <a:t>איך</a:t>
            </a:r>
            <a:r>
              <a:rPr lang="en-US" b="1" dirty="0"/>
              <a:t> AI </a:t>
            </a:r>
            <a:r>
              <a:rPr lang="he-IL" b="1" dirty="0"/>
              <a:t>עבד לפני </a:t>
            </a:r>
            <a:r>
              <a:rPr lang="en-US" b="1" dirty="0"/>
              <a:t>GOAP</a:t>
            </a:r>
            <a:endParaRPr lang="en-IL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B905-9402-49E6-94E9-A80188A2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938" y="639099"/>
            <a:ext cx="6591346" cy="496583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b="1" dirty="0"/>
              <a:t>איך נבנתה בינה מלאכותית במשחקים לפני </a:t>
            </a:r>
            <a:r>
              <a:rPr lang="en-US" b="1" dirty="0"/>
              <a:t>GOAP</a:t>
            </a:r>
            <a:br>
              <a:rPr lang="en-US" b="1" dirty="0"/>
            </a:br>
            <a:endParaRPr lang="en-US" dirty="0"/>
          </a:p>
          <a:p>
            <a:pPr lvl="1" algn="r" rtl="1"/>
            <a:r>
              <a:rPr lang="en-US" dirty="0"/>
              <a:t>Finite State Machines (FSM)</a:t>
            </a:r>
          </a:p>
          <a:p>
            <a:pPr lvl="1" algn="r" rtl="1"/>
            <a:r>
              <a:rPr lang="en-US" dirty="0"/>
              <a:t>Scripts </a:t>
            </a:r>
            <a:r>
              <a:rPr lang="he-IL" dirty="0"/>
              <a:t>־ </a:t>
            </a:r>
            <a:r>
              <a:rPr lang="en-US" dirty="0"/>
              <a:t>If / Else</a:t>
            </a:r>
          </a:p>
          <a:p>
            <a:pPr lvl="1" algn="r" rtl="1"/>
            <a:r>
              <a:rPr lang="en-US" dirty="0"/>
              <a:t>Behavior Trees</a:t>
            </a:r>
          </a:p>
          <a:p>
            <a:pPr marL="0" indent="0" algn="r" rtl="1">
              <a:buNone/>
            </a:pPr>
            <a:r>
              <a:rPr lang="he-IL" b="1" dirty="0"/>
              <a:t>מגבלות עיקריות:</a:t>
            </a:r>
          </a:p>
          <a:p>
            <a:pPr lvl="1" algn="r" rtl="1"/>
            <a:r>
              <a:rPr lang="he-IL" dirty="0"/>
              <a:t>קושי הרחבה</a:t>
            </a:r>
          </a:p>
          <a:p>
            <a:pPr lvl="1" algn="r" rtl="1"/>
            <a:r>
              <a:rPr lang="he-IL" dirty="0"/>
              <a:t>התנהגות קשיחה וצפויה</a:t>
            </a:r>
          </a:p>
          <a:p>
            <a:pPr lvl="1" algn="r" rtl="1"/>
            <a:r>
              <a:rPr lang="he-IL" dirty="0"/>
              <a:t>ריבוי מצבים מיוחדים </a:t>
            </a:r>
            <a:r>
              <a:rPr lang="en-US" dirty="0"/>
              <a:t>(Edge Cases)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1566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B905-9402-49E6-94E9-A80188A2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157" y="2006352"/>
            <a:ext cx="8543852" cy="3711595"/>
          </a:xfrm>
        </p:spPr>
        <p:txBody>
          <a:bodyPr anchor="t">
            <a:normAutofit/>
          </a:bodyPr>
          <a:lstStyle/>
          <a:p>
            <a:pPr marL="0" indent="0" algn="ctr" rtl="1">
              <a:buNone/>
            </a:pPr>
            <a:br>
              <a:rPr lang="he-IL" dirty="0"/>
            </a:br>
            <a:r>
              <a:rPr lang="he-IL" dirty="0"/>
              <a:t>האם במקום לכתוב לדמות את כל התרחישים מראש,</a:t>
            </a:r>
            <a:br>
              <a:rPr lang="he-IL" dirty="0"/>
            </a:br>
            <a:r>
              <a:rPr lang="he-IL" dirty="0"/>
              <a:t>אפשר לתת לה </a:t>
            </a:r>
            <a:r>
              <a:rPr lang="he-IL" b="1" dirty="0"/>
              <a:t>מטרה</a:t>
            </a:r>
            <a:r>
              <a:rPr lang="he-IL" dirty="0"/>
              <a:t>,</a:t>
            </a:r>
            <a:br>
              <a:rPr lang="he-IL" dirty="0"/>
            </a:br>
            <a:r>
              <a:rPr lang="he-IL" dirty="0"/>
              <a:t>ולאפשר לה </a:t>
            </a:r>
            <a:r>
              <a:rPr lang="he-IL" b="1" dirty="0"/>
              <a:t>לבנות לבד את הדרך אליה</a:t>
            </a:r>
            <a:r>
              <a:rPr lang="he-IL" dirty="0"/>
              <a:t>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7738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1E0A-B7CA-4042-8ED2-61D4C6A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113" y="605901"/>
            <a:ext cx="7411825" cy="1752599"/>
          </a:xfrm>
        </p:spPr>
        <p:txBody>
          <a:bodyPr>
            <a:normAutofit/>
          </a:bodyPr>
          <a:lstStyle/>
          <a:p>
            <a:r>
              <a:rPr lang="en-US" dirty="0"/>
              <a:t>GOAP – Goal-Oriented Action Planning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B905-9402-49E6-94E9-A80188A2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575" y="3139904"/>
            <a:ext cx="7243603" cy="2719193"/>
          </a:xfrm>
        </p:spPr>
        <p:txBody>
          <a:bodyPr anchor="t">
            <a:normAutofit/>
          </a:bodyPr>
          <a:lstStyle/>
          <a:p>
            <a:pPr marL="0" indent="0" algn="ctr" rtl="1">
              <a:buNone/>
            </a:pPr>
            <a:r>
              <a:rPr lang="he-IL" sz="1800" dirty="0"/>
              <a:t>שיטת </a:t>
            </a:r>
            <a:r>
              <a:rPr lang="en-US" sz="1800" dirty="0"/>
              <a:t> AI </a:t>
            </a:r>
            <a:r>
              <a:rPr lang="he-IL" sz="1800" dirty="0"/>
              <a:t>ל־</a:t>
            </a:r>
            <a:r>
              <a:rPr lang="en-US" sz="1800" dirty="0"/>
              <a:t> NPC </a:t>
            </a:r>
            <a:r>
              <a:rPr lang="he-IL" sz="1800" dirty="0"/>
              <a:t>שמבוססת על </a:t>
            </a:r>
            <a:r>
              <a:rPr lang="en-US" sz="1800" b="1" dirty="0"/>
              <a:t>Goals</a:t>
            </a:r>
            <a:endParaRPr lang="en-US" sz="1800" dirty="0"/>
          </a:p>
          <a:p>
            <a:pPr marL="0" indent="0" algn="ctr" rtl="1">
              <a:buNone/>
            </a:pPr>
            <a:r>
              <a:rPr lang="he-IL" sz="1800" b="1" dirty="0"/>
              <a:t>פותח ע״י:</a:t>
            </a:r>
            <a:r>
              <a:rPr lang="he-IL" sz="1800" dirty="0"/>
              <a:t> </a:t>
            </a:r>
            <a:r>
              <a:rPr lang="en-US" sz="1800" dirty="0"/>
              <a:t>Jeff Orkin (Monolith Productions)</a:t>
            </a:r>
            <a:br>
              <a:rPr lang="en-US" sz="1800" dirty="0"/>
            </a:br>
            <a:r>
              <a:rPr lang="he-IL" sz="1800" b="1" dirty="0"/>
              <a:t>תקופה:</a:t>
            </a:r>
            <a:r>
              <a:rPr lang="he-IL" sz="1800" dirty="0"/>
              <a:t> תחילת שנות ה־2000 (נכנס לשימוש מוכר סביב </a:t>
            </a:r>
            <a:r>
              <a:rPr lang="en-US" sz="1800" dirty="0"/>
              <a:t>F.E.A.R., 2005</a:t>
            </a:r>
            <a:r>
              <a:rPr lang="he-IL" sz="1800" dirty="0"/>
              <a:t>)</a:t>
            </a:r>
            <a:endParaRPr lang="en-US" sz="1800" dirty="0"/>
          </a:p>
          <a:p>
            <a:pPr algn="ctr" rtl="1"/>
            <a:endParaRPr lang="en-IL" sz="1800" dirty="0"/>
          </a:p>
        </p:txBody>
      </p:sp>
    </p:spTree>
    <p:extLst>
      <p:ext uri="{BB962C8B-B14F-4D97-AF65-F5344CB8AC3E}">
        <p14:creationId xmlns:p14="http://schemas.microsoft.com/office/powerpoint/2010/main" val="2808147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98E1A-D7B4-4951-888E-731FFA52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569" y="663045"/>
            <a:ext cx="3145536" cy="820928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Goal</a:t>
            </a:r>
            <a:endParaRPr lang="en-IL" sz="3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9FD68-FA6D-4CC8-8B7E-7F5FCD048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5020" y="1868994"/>
            <a:ext cx="5951013" cy="4449422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en-US" sz="2000" dirty="0"/>
              <a:t> Goal </a:t>
            </a:r>
            <a:r>
              <a:rPr lang="he-IL" sz="2000" dirty="0"/>
              <a:t>הוא </a:t>
            </a:r>
            <a:r>
              <a:rPr lang="he-IL" sz="2000" b="1" dirty="0"/>
              <a:t>תנאי או מצב שהדמות </a:t>
            </a:r>
            <a:r>
              <a:rPr lang="en-US" sz="2000" b="1" dirty="0"/>
              <a:t> Agent </a:t>
            </a:r>
            <a:r>
              <a:rPr lang="he-IL" sz="2000" b="1" dirty="0"/>
              <a:t>רוצה שיתקיים בעולם</a:t>
            </a:r>
            <a:r>
              <a:rPr lang="he-IL" sz="2000" dirty="0"/>
              <a:t>.</a:t>
            </a:r>
          </a:p>
          <a:p>
            <a:pPr algn="r" rtl="1"/>
            <a:r>
              <a:rPr lang="he-IL" sz="2000" b="1" dirty="0"/>
              <a:t>מאפיינים עיקריים</a:t>
            </a:r>
            <a:endParaRPr lang="he-IL" sz="2000" dirty="0"/>
          </a:p>
          <a:p>
            <a:pPr lvl="1" algn="r" rtl="1"/>
            <a:r>
              <a:rPr lang="he-IL" dirty="0"/>
              <a:t>לדמות יכולים להיות </a:t>
            </a:r>
            <a:r>
              <a:rPr lang="he-IL" b="1" dirty="0"/>
              <a:t>מספר </a:t>
            </a:r>
            <a:r>
              <a:rPr lang="en-US" b="1" dirty="0"/>
              <a:t> Goals </a:t>
            </a:r>
            <a:r>
              <a:rPr lang="he-IL" b="1" dirty="0"/>
              <a:t> במקביל</a:t>
            </a:r>
          </a:p>
          <a:p>
            <a:pPr lvl="1" algn="r" rtl="1"/>
            <a:r>
              <a:rPr lang="he-IL" dirty="0"/>
              <a:t>לכל </a:t>
            </a:r>
            <a:r>
              <a:rPr lang="en-US" dirty="0"/>
              <a:t>Goal</a:t>
            </a:r>
            <a:r>
              <a:rPr lang="he-IL" dirty="0"/>
              <a:t> יש עדיפות.</a:t>
            </a:r>
          </a:p>
          <a:p>
            <a:pPr lvl="1" algn="r" rtl="1"/>
            <a:r>
              <a:rPr lang="he-IL" dirty="0"/>
              <a:t>בכל רגע נתון יש </a:t>
            </a:r>
            <a:r>
              <a:rPr lang="en-US" dirty="0"/>
              <a:t> </a:t>
            </a:r>
            <a:r>
              <a:rPr lang="en-US" b="1" dirty="0"/>
              <a:t>Goal </a:t>
            </a:r>
            <a:r>
              <a:rPr lang="he-IL" b="1" dirty="0"/>
              <a:t>אחד פעיל</a:t>
            </a:r>
            <a:r>
              <a:rPr lang="en-US" b="1" dirty="0"/>
              <a:t> </a:t>
            </a:r>
            <a:r>
              <a:rPr lang="he-IL" dirty="0"/>
              <a:t>הוא זה שמכוון את ההתנהגות הנוכחית של הדמות.</a:t>
            </a:r>
            <a:br>
              <a:rPr lang="he-IL" dirty="0"/>
            </a:br>
            <a:endParaRPr lang="he-IL" dirty="0"/>
          </a:p>
          <a:p>
            <a:pPr algn="r" rtl="1"/>
            <a:r>
              <a:rPr lang="he-IL" sz="2000" b="1" dirty="0"/>
              <a:t>דוגמאות ל־</a:t>
            </a:r>
            <a:r>
              <a:rPr lang="en-US" sz="2000" b="1" dirty="0"/>
              <a:t>Goals</a:t>
            </a:r>
            <a:endParaRPr lang="en-US" sz="2000" dirty="0"/>
          </a:p>
          <a:p>
            <a:pPr algn="r" rtl="1"/>
            <a:endParaRPr lang="en-US" sz="2000" dirty="0"/>
          </a:p>
          <a:p>
            <a:pPr algn="r"/>
            <a:endParaRPr lang="en-IL" sz="2000" dirty="0"/>
          </a:p>
        </p:txBody>
      </p:sp>
      <p:pic>
        <p:nvPicPr>
          <p:cNvPr id="9" name="תמונה 8" descr="תמונה שמכילה טקסט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03037A0-930E-11C4-EE64-679D66BA5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60" y="1192877"/>
            <a:ext cx="4883659" cy="4632217"/>
          </a:xfrm>
          <a:prstGeom prst="rect">
            <a:avLst/>
          </a:prstGeom>
        </p:spPr>
      </p:pic>
      <p:sp>
        <p:nvSpPr>
          <p:cNvPr id="17" name="חץ: ימינה 16">
            <a:extLst>
              <a:ext uri="{FF2B5EF4-FFF2-40B4-BE49-F238E27FC236}">
                <a16:creationId xmlns:a16="http://schemas.microsoft.com/office/drawing/2014/main" id="{0F48A91C-B58C-4778-2572-E5F0123A43DB}"/>
              </a:ext>
            </a:extLst>
          </p:cNvPr>
          <p:cNvSpPr/>
          <p:nvPr/>
        </p:nvSpPr>
        <p:spPr>
          <a:xfrm rot="12249477">
            <a:off x="4208172" y="4787633"/>
            <a:ext cx="2976943" cy="338352"/>
          </a:xfrm>
          <a:prstGeom prst="rightArrow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4974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E80BB-3049-4C58-83A2-7F29F1CE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670" y="930426"/>
            <a:ext cx="3145536" cy="922035"/>
          </a:xfrm>
        </p:spPr>
        <p:txBody>
          <a:bodyPr>
            <a:normAutofit fontScale="90000"/>
          </a:bodyPr>
          <a:lstStyle/>
          <a:p>
            <a:pPr algn="r"/>
            <a:r>
              <a:rPr lang="en-US" sz="3600" dirty="0"/>
              <a:t>Action </a:t>
            </a:r>
            <a:r>
              <a:rPr lang="he-IL" sz="3600" dirty="0"/>
              <a:t>פעולה)</a:t>
            </a:r>
            <a:r>
              <a:rPr lang="en-US" sz="3600" dirty="0"/>
              <a:t> </a:t>
            </a:r>
            <a:r>
              <a:rPr lang="he-IL" sz="3600" dirty="0"/>
              <a:t>(</a:t>
            </a:r>
            <a:br>
              <a:rPr lang="en-IL" sz="3600" dirty="0"/>
            </a:br>
            <a:endParaRPr lang="en-IL" sz="3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055F4-1C12-42C4-AB87-CC2DFA1B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90000"/>
              </a:lnSpc>
              <a:buNone/>
            </a:pPr>
            <a:br>
              <a:rPr lang="he-IL" sz="1600" dirty="0"/>
            </a:br>
            <a:r>
              <a:rPr lang="en-US" sz="1600" dirty="0"/>
              <a:t> Action </a:t>
            </a:r>
            <a:r>
              <a:rPr lang="he-IL" sz="1600" dirty="0"/>
              <a:t>היא </a:t>
            </a:r>
            <a:r>
              <a:rPr lang="he-IL" sz="1600" b="1" dirty="0"/>
              <a:t>צעד בודד</a:t>
            </a:r>
            <a:r>
              <a:rPr lang="he-IL" sz="1600" dirty="0"/>
              <a:t>  </a:t>
            </a:r>
            <a:r>
              <a:rPr lang="en-US" sz="1600" dirty="0"/>
              <a:t>atomic step)</a:t>
            </a:r>
            <a:r>
              <a:rPr lang="he-IL" sz="1600" dirty="0"/>
              <a:t>) בתוך תוכנית </a:t>
            </a:r>
            <a:r>
              <a:rPr lang="en-US" sz="1600" dirty="0"/>
              <a:t>(</a:t>
            </a:r>
            <a:r>
              <a:rPr lang="en-US" sz="1600" b="1" dirty="0"/>
              <a:t>Plan</a:t>
            </a:r>
            <a:r>
              <a:rPr lang="en-US" sz="1600" dirty="0"/>
              <a:t>) </a:t>
            </a:r>
            <a:r>
              <a:rPr lang="he-IL" sz="1600" dirty="0"/>
              <a:t> שהדמות מבצעת.</a:t>
            </a:r>
          </a:p>
          <a:p>
            <a:pPr marL="0" indent="0" algn="r" rtl="1">
              <a:lnSpc>
                <a:spcPct val="90000"/>
              </a:lnSpc>
              <a:buNone/>
            </a:pPr>
            <a:r>
              <a:rPr lang="he-IL" sz="1600" b="1" dirty="0"/>
              <a:t>מאפיינים עיקריים</a:t>
            </a:r>
            <a:endParaRPr lang="he-IL" sz="1600" dirty="0"/>
          </a:p>
          <a:p>
            <a:pPr algn="r" rtl="1">
              <a:lnSpc>
                <a:spcPct val="90000"/>
              </a:lnSpc>
            </a:pPr>
            <a:r>
              <a:rPr lang="en-US" sz="1600" dirty="0"/>
              <a:t>Action </a:t>
            </a:r>
            <a:r>
              <a:rPr lang="he-IL" sz="1600" dirty="0"/>
              <a:t> יכולה להיות:</a:t>
            </a:r>
          </a:p>
          <a:p>
            <a:pPr lvl="1" algn="r" rtl="1">
              <a:lnSpc>
                <a:spcPct val="90000"/>
              </a:lnSpc>
            </a:pPr>
            <a:r>
              <a:rPr lang="he-IL" sz="1600" b="1" dirty="0"/>
              <a:t>קצרה</a:t>
            </a:r>
            <a:r>
              <a:rPr lang="he-IL" sz="1600" dirty="0"/>
              <a:t> (למשל: </a:t>
            </a:r>
            <a:r>
              <a:rPr lang="en-US" sz="1600" dirty="0"/>
              <a:t> Eat</a:t>
            </a:r>
            <a:r>
              <a:rPr lang="he-IL" sz="1600" dirty="0"/>
              <a:t>נגמרת אחרי שנייה)</a:t>
            </a:r>
          </a:p>
          <a:p>
            <a:pPr lvl="1" algn="r" rtl="1">
              <a:lnSpc>
                <a:spcPct val="90000"/>
              </a:lnSpc>
            </a:pPr>
            <a:r>
              <a:rPr lang="he-IL" sz="1600" b="1" dirty="0"/>
              <a:t>ארוכה/מתמשכת</a:t>
            </a:r>
            <a:r>
              <a:rPr lang="he-IL" sz="1600" dirty="0"/>
              <a:t> (למשל: </a:t>
            </a:r>
            <a:r>
              <a:rPr lang="en-US" sz="1600" dirty="0"/>
              <a:t>Move</a:t>
            </a:r>
            <a:r>
              <a:rPr lang="he-IL" sz="1600" dirty="0"/>
              <a:t>, נגמר אחרי שהדמות הגיעה ליעד שלה)</a:t>
            </a:r>
          </a:p>
          <a:p>
            <a:pPr algn="r" rtl="1">
              <a:lnSpc>
                <a:spcPct val="90000"/>
              </a:lnSpc>
            </a:pPr>
            <a:r>
              <a:rPr lang="he-IL" sz="1600" dirty="0"/>
              <a:t>לגבי כל </a:t>
            </a:r>
            <a:r>
              <a:rPr lang="en-US" sz="1600" dirty="0"/>
              <a:t>Action</a:t>
            </a:r>
            <a:r>
              <a:rPr lang="he-IL" sz="1600" dirty="0"/>
              <a:t> ידוע:</a:t>
            </a:r>
          </a:p>
          <a:p>
            <a:pPr lvl="1" algn="r" rtl="1">
              <a:lnSpc>
                <a:spcPct val="90000"/>
              </a:lnSpc>
            </a:pPr>
            <a:r>
              <a:rPr lang="he-IL" sz="1600" b="1" dirty="0"/>
              <a:t>מתי היא אפשרית</a:t>
            </a:r>
            <a:r>
              <a:rPr lang="he-IL" sz="1600" dirty="0"/>
              <a:t> </a:t>
            </a:r>
            <a:r>
              <a:rPr lang="en-US" sz="1600" i="1" dirty="0"/>
              <a:t>Preconditions – </a:t>
            </a:r>
            <a:r>
              <a:rPr lang="he-IL" sz="1600" i="1" dirty="0"/>
              <a:t> (תנאים מקדימים)</a:t>
            </a:r>
            <a:endParaRPr lang="he-IL" sz="1600" dirty="0"/>
          </a:p>
          <a:p>
            <a:pPr lvl="1" algn="r" rtl="1">
              <a:lnSpc>
                <a:spcPct val="90000"/>
              </a:lnSpc>
            </a:pPr>
            <a:r>
              <a:rPr lang="he-IL" sz="1600" b="1" dirty="0"/>
              <a:t>מה היא משנה בעולם</a:t>
            </a:r>
            <a:r>
              <a:rPr lang="he-IL" sz="1600" dirty="0"/>
              <a:t> </a:t>
            </a:r>
            <a:r>
              <a:rPr lang="en-US" sz="1600" dirty="0"/>
              <a:t> </a:t>
            </a:r>
            <a:r>
              <a:rPr lang="en-US" sz="1600" i="1" dirty="0"/>
              <a:t>Effects) – </a:t>
            </a:r>
            <a:r>
              <a:rPr lang="he-IL" sz="1600" i="1" dirty="0"/>
              <a:t>תוצאות/שינויים במצב העולם)</a:t>
            </a:r>
            <a:endParaRPr lang="he-IL" sz="1600" dirty="0"/>
          </a:p>
          <a:p>
            <a:pPr lvl="1" algn="r" rtl="1">
              <a:lnSpc>
                <a:spcPct val="90000"/>
              </a:lnSpc>
            </a:pPr>
            <a:r>
              <a:rPr lang="he-IL" sz="1600" b="1" dirty="0"/>
              <a:t>כמה היא “יקרה”</a:t>
            </a:r>
            <a:r>
              <a:rPr lang="he-IL" sz="1600" dirty="0"/>
              <a:t> </a:t>
            </a:r>
            <a:r>
              <a:rPr lang="he-IL" sz="1600" i="1" dirty="0"/>
              <a:t>(</a:t>
            </a:r>
            <a:r>
              <a:rPr lang="en-US" sz="1600" i="1" dirty="0"/>
              <a:t>  Cost </a:t>
            </a:r>
            <a:r>
              <a:rPr lang="he-IL" sz="1600" i="1" dirty="0"/>
              <a:t>מחיר/עדיפות שמשפיע על בחירת התוכנית)</a:t>
            </a:r>
            <a:endParaRPr lang="en-US" sz="1600" i="1" dirty="0"/>
          </a:p>
          <a:p>
            <a:pPr marL="0" indent="0" algn="r" rtl="1">
              <a:lnSpc>
                <a:spcPct val="90000"/>
              </a:lnSpc>
              <a:buNone/>
            </a:pPr>
            <a:endParaRPr lang="en-US" sz="1600" i="1" dirty="0"/>
          </a:p>
        </p:txBody>
      </p:sp>
      <p:pic>
        <p:nvPicPr>
          <p:cNvPr id="4" name="תמונה 3" descr="תמונה שמכילה טקסט, צילום מסך, תוכנה">
            <a:extLst>
              <a:ext uri="{FF2B5EF4-FFF2-40B4-BE49-F238E27FC236}">
                <a16:creationId xmlns:a16="http://schemas.microsoft.com/office/drawing/2014/main" id="{112E58DB-8CCB-C8C8-6BAA-117D0AC74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90" y="1365752"/>
            <a:ext cx="4318002" cy="4265280"/>
          </a:xfrm>
          <a:prstGeom prst="rect">
            <a:avLst/>
          </a:prstGeom>
        </p:spPr>
      </p:pic>
      <p:sp>
        <p:nvSpPr>
          <p:cNvPr id="9" name="סוגר מסולסל שמאלי 8">
            <a:extLst>
              <a:ext uri="{FF2B5EF4-FFF2-40B4-BE49-F238E27FC236}">
                <a16:creationId xmlns:a16="http://schemas.microsoft.com/office/drawing/2014/main" id="{6690156D-EFF7-B960-DDE7-4FE517CD6B5B}"/>
              </a:ext>
            </a:extLst>
          </p:cNvPr>
          <p:cNvSpPr/>
          <p:nvPr/>
        </p:nvSpPr>
        <p:spPr>
          <a:xfrm>
            <a:off x="5167666" y="2674521"/>
            <a:ext cx="385752" cy="889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D5DFC54D-5DA6-1D9A-561B-DEAB0395D5EA}"/>
              </a:ext>
            </a:extLst>
          </p:cNvPr>
          <p:cNvCxnSpPr>
            <a:cxnSpLocks/>
          </p:cNvCxnSpPr>
          <p:nvPr/>
        </p:nvCxnSpPr>
        <p:spPr>
          <a:xfrm flipH="1" flipV="1">
            <a:off x="2681056" y="2296232"/>
            <a:ext cx="2344610" cy="7949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חץ ישר 18">
            <a:extLst>
              <a:ext uri="{FF2B5EF4-FFF2-40B4-BE49-F238E27FC236}">
                <a16:creationId xmlns:a16="http://schemas.microsoft.com/office/drawing/2014/main" id="{EADCC697-0182-306B-FC9F-7CB6A46DBDE4}"/>
              </a:ext>
            </a:extLst>
          </p:cNvPr>
          <p:cNvCxnSpPr>
            <a:cxnSpLocks/>
          </p:cNvCxnSpPr>
          <p:nvPr/>
        </p:nvCxnSpPr>
        <p:spPr>
          <a:xfrm flipH="1" flipV="1">
            <a:off x="3853361" y="3467154"/>
            <a:ext cx="1942682" cy="721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חץ ישר 20">
            <a:extLst>
              <a:ext uri="{FF2B5EF4-FFF2-40B4-BE49-F238E27FC236}">
                <a16:creationId xmlns:a16="http://schemas.microsoft.com/office/drawing/2014/main" id="{268E7BA9-1A62-C9C6-E5D3-0E025854484B}"/>
              </a:ext>
            </a:extLst>
          </p:cNvPr>
          <p:cNvCxnSpPr>
            <a:cxnSpLocks/>
          </p:cNvCxnSpPr>
          <p:nvPr/>
        </p:nvCxnSpPr>
        <p:spPr>
          <a:xfrm flipH="1" flipV="1">
            <a:off x="4149050" y="4021642"/>
            <a:ext cx="967942" cy="379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חץ ישר 21">
            <a:extLst>
              <a:ext uri="{FF2B5EF4-FFF2-40B4-BE49-F238E27FC236}">
                <a16:creationId xmlns:a16="http://schemas.microsoft.com/office/drawing/2014/main" id="{1B56FFF2-2AE2-48CD-154A-697915F00ABC}"/>
              </a:ext>
            </a:extLst>
          </p:cNvPr>
          <p:cNvCxnSpPr>
            <a:cxnSpLocks/>
          </p:cNvCxnSpPr>
          <p:nvPr/>
        </p:nvCxnSpPr>
        <p:spPr>
          <a:xfrm flipH="1" flipV="1">
            <a:off x="4447110" y="4687853"/>
            <a:ext cx="1126922" cy="288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932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E3C79A3-BD9F-9E14-F69C-C12E470C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330" y="1119823"/>
            <a:ext cx="3145536" cy="1463040"/>
          </a:xfrm>
        </p:spPr>
        <p:txBody>
          <a:bodyPr>
            <a:normAutofit/>
          </a:bodyPr>
          <a:lstStyle/>
          <a:p>
            <a:pPr algn="r"/>
            <a:r>
              <a:rPr lang="en-US" sz="3600" dirty="0" err="1"/>
              <a:t>WorldState</a:t>
            </a:r>
            <a:endParaRPr lang="he-IL" sz="3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50BEC0A-97A8-765D-7015-7FBBDEB79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algn="r" rtl="1"/>
            <a:r>
              <a:rPr lang="en-US" sz="2000" b="1" dirty="0"/>
              <a:t> </a:t>
            </a:r>
            <a:r>
              <a:rPr lang="en-US" sz="2000" b="1" dirty="0" err="1"/>
              <a:t>WorldState</a:t>
            </a:r>
            <a:r>
              <a:rPr lang="en-US" sz="2000" dirty="0"/>
              <a:t> </a:t>
            </a:r>
            <a:r>
              <a:rPr lang="he-IL" sz="2000" dirty="0"/>
              <a:t>הוא “צילום מצב” לוגי ומצומצם של העולם עבור ה־</a:t>
            </a:r>
            <a:r>
              <a:rPr lang="en-US" sz="2000" dirty="0"/>
              <a:t> GOAP </a:t>
            </a:r>
            <a:r>
              <a:rPr lang="he-IL" sz="2000" dirty="0"/>
              <a:t>מכיל רק מה שרלוונטי לתכנון.</a:t>
            </a:r>
          </a:p>
          <a:p>
            <a:pPr algn="r" rtl="1"/>
            <a:r>
              <a:rPr lang="he-IL" sz="2000" dirty="0"/>
              <a:t>ה־</a:t>
            </a:r>
            <a:r>
              <a:rPr lang="en-US" sz="2000" dirty="0"/>
              <a:t>Planner </a:t>
            </a:r>
            <a:r>
              <a:rPr lang="he-IL" sz="2000" dirty="0"/>
              <a:t>משתמש ב־</a:t>
            </a:r>
            <a:r>
              <a:rPr lang="en-US" sz="2000" dirty="0" err="1"/>
              <a:t>WorldState</a:t>
            </a:r>
            <a:r>
              <a:rPr lang="en-US" sz="2000" dirty="0"/>
              <a:t> </a:t>
            </a:r>
            <a:r>
              <a:rPr lang="he-IL" sz="2000" dirty="0"/>
              <a:t> כ־</a:t>
            </a:r>
            <a:r>
              <a:rPr lang="en-US" sz="2000" b="1" dirty="0"/>
              <a:t>Nodes</a:t>
            </a:r>
            <a:r>
              <a:rPr lang="en-US" sz="2000" dirty="0"/>
              <a:t> </a:t>
            </a:r>
            <a:r>
              <a:rPr lang="he-IL" sz="2000" dirty="0"/>
              <a:t> בחיפוש, וכל </a:t>
            </a:r>
            <a:r>
              <a:rPr lang="en-US" sz="2000" dirty="0"/>
              <a:t> </a:t>
            </a:r>
            <a:r>
              <a:rPr lang="en-US" sz="2000" b="1" dirty="0"/>
              <a:t>Action</a:t>
            </a:r>
            <a:r>
              <a:rPr lang="en-US" sz="2000" dirty="0"/>
              <a:t> </a:t>
            </a:r>
            <a:r>
              <a:rPr lang="he-IL" sz="2000" dirty="0"/>
              <a:t>מעבירה מ־</a:t>
            </a:r>
            <a:r>
              <a:rPr lang="en-US" sz="2000" dirty="0"/>
              <a:t>State </a:t>
            </a:r>
            <a:r>
              <a:rPr lang="he-IL" sz="2000" dirty="0"/>
              <a:t>אחד ל־</a:t>
            </a:r>
            <a:r>
              <a:rPr lang="en-US" sz="2000" dirty="0"/>
              <a:t> State </a:t>
            </a:r>
            <a:r>
              <a:rPr lang="he-IL" sz="2000" dirty="0"/>
              <a:t>אחר (יוסבר לעומק בשקפים הבאים).</a:t>
            </a:r>
          </a:p>
          <a:p>
            <a:pPr algn="r" rtl="1"/>
            <a:endParaRPr lang="he-IL" sz="2000" dirty="0"/>
          </a:p>
        </p:txBody>
      </p:sp>
      <p:pic>
        <p:nvPicPr>
          <p:cNvPr id="4" name="תמונה 3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00B9C86-5894-5AAE-FCEC-BE000384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35" y="2099399"/>
            <a:ext cx="4123636" cy="28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59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BDF0A-7872-42E3-A06E-6FCD3F89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634" y="924521"/>
            <a:ext cx="3145536" cy="1072955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Plan</a:t>
            </a:r>
            <a:endParaRPr lang="en-IL" sz="3600" dirty="0"/>
          </a:p>
        </p:txBody>
      </p:sp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93501-D716-43D1-ACA7-3311D2A61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algn="r" rtl="1"/>
            <a:r>
              <a:rPr lang="en-US" sz="2000" b="1" dirty="0"/>
              <a:t> Plan</a:t>
            </a:r>
            <a:r>
              <a:rPr lang="en-US" sz="2000" dirty="0"/>
              <a:t> </a:t>
            </a:r>
            <a:r>
              <a:rPr lang="he-IL" sz="2000" dirty="0"/>
              <a:t>הוא רצף פעולות (</a:t>
            </a:r>
            <a:r>
              <a:rPr lang="en-US" sz="2000" dirty="0"/>
              <a:t> (</a:t>
            </a:r>
            <a:r>
              <a:rPr lang="en-US" sz="2000" b="1" dirty="0"/>
              <a:t>Actions</a:t>
            </a:r>
            <a:r>
              <a:rPr lang="he-IL" sz="2000" dirty="0"/>
              <a:t>שמוביל את הסוכן מ־</a:t>
            </a:r>
            <a:r>
              <a:rPr lang="he-IL" sz="2000" b="1" dirty="0"/>
              <a:t>מצב עולם נוכחי </a:t>
            </a:r>
            <a:r>
              <a:rPr lang="en-US" sz="2000" b="1" dirty="0"/>
              <a:t>(</a:t>
            </a:r>
            <a:r>
              <a:rPr lang="en-US" sz="2000" b="1" dirty="0" err="1"/>
              <a:t>WorldState</a:t>
            </a:r>
            <a:r>
              <a:rPr lang="en-US" sz="2000" b="1" dirty="0"/>
              <a:t>)</a:t>
            </a:r>
            <a:br>
              <a:rPr lang="en-US" sz="2000" dirty="0"/>
            </a:br>
            <a:r>
              <a:rPr lang="he-IL" sz="2000" dirty="0"/>
              <a:t>אל מצב שבו </a:t>
            </a:r>
            <a:r>
              <a:rPr lang="he-IL" sz="2000" b="1" dirty="0"/>
              <a:t>מטרה מסוימת מסופקת </a:t>
            </a:r>
            <a:r>
              <a:rPr lang="en-US" sz="2000" b="1" dirty="0"/>
              <a:t>(Goal)</a:t>
            </a:r>
            <a:endParaRPr lang="en-US" sz="2000" dirty="0"/>
          </a:p>
          <a:p>
            <a:pPr algn="r" rtl="1"/>
            <a:r>
              <a:rPr lang="he-IL" sz="2000" b="1" dirty="0"/>
              <a:t>איך </a:t>
            </a:r>
            <a:r>
              <a:rPr lang="en-US" sz="2000" b="1" dirty="0"/>
              <a:t>Plan </a:t>
            </a:r>
            <a:r>
              <a:rPr lang="he-IL" sz="2000" b="1" dirty="0"/>
              <a:t> משתנה בזמן ריצה</a:t>
            </a:r>
          </a:p>
          <a:p>
            <a:pPr lvl="1" algn="r" rtl="1"/>
            <a:r>
              <a:rPr lang="he-IL" dirty="0"/>
              <a:t>אם ה־</a:t>
            </a:r>
            <a:r>
              <a:rPr lang="en-US" dirty="0"/>
              <a:t>Plan </a:t>
            </a:r>
            <a:r>
              <a:rPr lang="he-IL" dirty="0"/>
              <a:t> נהיה לא אפשרי</a:t>
            </a:r>
          </a:p>
          <a:p>
            <a:pPr algn="r" rtl="1"/>
            <a:r>
              <a:rPr lang="he-IL" sz="2000" dirty="0"/>
              <a:t>או אם נמצא</a:t>
            </a:r>
            <a:r>
              <a:rPr lang="en-US" sz="2000" dirty="0"/>
              <a:t>Plan </a:t>
            </a:r>
            <a:r>
              <a:rPr lang="he-IL" sz="2000" dirty="0"/>
              <a:t> אחר עם </a:t>
            </a:r>
            <a:r>
              <a:rPr lang="en-US" sz="2000" dirty="0"/>
              <a:t> </a:t>
            </a:r>
            <a:r>
              <a:rPr lang="en-US" sz="2000" b="1" dirty="0"/>
              <a:t>score </a:t>
            </a:r>
            <a:r>
              <a:rPr lang="he-IL" sz="2000" b="1" dirty="0"/>
              <a:t>טוב יותר</a:t>
            </a:r>
            <a:br>
              <a:rPr lang="he-IL" sz="2000" dirty="0"/>
            </a:br>
            <a:r>
              <a:rPr lang="he-IL" sz="2000" dirty="0"/>
              <a:t>-&gt; הסוכן מבצע </a:t>
            </a:r>
            <a:r>
              <a:rPr lang="en-US" sz="2000" b="1" dirty="0"/>
              <a:t>Replan</a:t>
            </a:r>
            <a:endParaRPr lang="en-US" sz="2000" dirty="0"/>
          </a:p>
        </p:txBody>
      </p:sp>
      <p:pic>
        <p:nvPicPr>
          <p:cNvPr id="9" name="תמונה 8" descr="תמונה שמכילה טקסט, צילום מסך, גופן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CB5B96A-C5D1-3CAA-1F22-CC1D76DB1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71" y="2152291"/>
            <a:ext cx="4591691" cy="2353003"/>
          </a:xfrm>
          <a:prstGeom prst="rect">
            <a:avLst/>
          </a:prstGeom>
        </p:spPr>
      </p:pic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65D3CA5C-38AE-5219-68CF-DF29CA8A17E8}"/>
              </a:ext>
            </a:extLst>
          </p:cNvPr>
          <p:cNvCxnSpPr>
            <a:cxnSpLocks/>
          </p:cNvCxnSpPr>
          <p:nvPr/>
        </p:nvCxnSpPr>
        <p:spPr>
          <a:xfrm flipH="1" flipV="1">
            <a:off x="4238324" y="3783128"/>
            <a:ext cx="1554874" cy="5156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סוגר מסולסל שמאלי 20">
            <a:extLst>
              <a:ext uri="{FF2B5EF4-FFF2-40B4-BE49-F238E27FC236}">
                <a16:creationId xmlns:a16="http://schemas.microsoft.com/office/drawing/2014/main" id="{CC5E176E-5B30-25A8-A09D-E6E3A87060BA}"/>
              </a:ext>
            </a:extLst>
          </p:cNvPr>
          <p:cNvSpPr/>
          <p:nvPr/>
        </p:nvSpPr>
        <p:spPr>
          <a:xfrm>
            <a:off x="5836408" y="3920399"/>
            <a:ext cx="571226" cy="926809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33436DC3-113C-7FFA-A0ED-74C9793281E7}"/>
              </a:ext>
            </a:extLst>
          </p:cNvPr>
          <p:cNvSpPr/>
          <p:nvPr/>
        </p:nvSpPr>
        <p:spPr>
          <a:xfrm>
            <a:off x="731553" y="4325990"/>
            <a:ext cx="4803228" cy="226631"/>
          </a:xfrm>
          <a:prstGeom prst="rect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9372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AFE71-0123-4F09-B422-B41034BAD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267" y="420729"/>
            <a:ext cx="3145536" cy="1143977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Planner</a:t>
            </a:r>
            <a:endParaRPr lang="en-IL" sz="3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94998-DBDB-4EE6-8336-DAE197384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algn="r" rtl="1">
              <a:lnSpc>
                <a:spcPct val="90000"/>
              </a:lnSpc>
            </a:pPr>
            <a:r>
              <a:rPr lang="he-IL" sz="1600" dirty="0"/>
              <a:t>ה־</a:t>
            </a:r>
            <a:r>
              <a:rPr lang="en-US" sz="1600" b="1" dirty="0"/>
              <a:t>Planner</a:t>
            </a:r>
            <a:r>
              <a:rPr lang="en-US" sz="1600" dirty="0"/>
              <a:t> </a:t>
            </a:r>
            <a:r>
              <a:rPr lang="he-IL" sz="1600" dirty="0"/>
              <a:t> הוא המנגנון שבונה</a:t>
            </a:r>
            <a:r>
              <a:rPr lang="en-US" sz="1600" b="1" dirty="0"/>
              <a:t>Plan</a:t>
            </a:r>
            <a:r>
              <a:rPr lang="en-US" sz="1600" dirty="0"/>
              <a:t> </a:t>
            </a:r>
            <a:r>
              <a:rPr lang="he-IL" sz="1600" dirty="0"/>
              <a:t> עבור </a:t>
            </a:r>
            <a:r>
              <a:rPr lang="en-US" sz="1600" dirty="0"/>
              <a:t> </a:t>
            </a:r>
            <a:r>
              <a:rPr lang="en-US" sz="1600" b="1" dirty="0"/>
              <a:t>Goal</a:t>
            </a:r>
            <a:r>
              <a:rPr lang="en-US" sz="1600" dirty="0"/>
              <a:t> </a:t>
            </a:r>
            <a:r>
              <a:rPr lang="he-IL" sz="1600" dirty="0"/>
              <a:t>נתון.</a:t>
            </a:r>
          </a:p>
          <a:p>
            <a:pPr algn="r" rtl="1">
              <a:lnSpc>
                <a:spcPct val="90000"/>
              </a:lnSpc>
            </a:pPr>
            <a:r>
              <a:rPr lang="he-IL" sz="1600" dirty="0"/>
              <a:t>הוא מקבל:</a:t>
            </a:r>
          </a:p>
          <a:p>
            <a:pPr lvl="1" algn="r" rtl="1">
              <a:lnSpc>
                <a:spcPct val="90000"/>
              </a:lnSpc>
            </a:pPr>
            <a:r>
              <a:rPr lang="en-US" sz="1600" b="1" dirty="0" err="1"/>
              <a:t>WorldState</a:t>
            </a:r>
            <a:r>
              <a:rPr lang="en-US" sz="1600" b="1" dirty="0"/>
              <a:t> </a:t>
            </a:r>
            <a:r>
              <a:rPr lang="he-IL" sz="1600" b="1" dirty="0"/>
              <a:t> נוכחי</a:t>
            </a:r>
            <a:endParaRPr lang="he-IL" sz="1600" dirty="0"/>
          </a:p>
          <a:p>
            <a:pPr lvl="1" algn="r" rtl="1">
              <a:lnSpc>
                <a:spcPct val="90000"/>
              </a:lnSpc>
            </a:pPr>
            <a:r>
              <a:rPr lang="en-US" sz="1600" b="1" dirty="0"/>
              <a:t>Goal</a:t>
            </a:r>
            <a:r>
              <a:rPr lang="en-US" sz="1600" dirty="0"/>
              <a:t> </a:t>
            </a:r>
            <a:r>
              <a:rPr lang="he-IL" sz="1600" dirty="0"/>
              <a:t> (מצב רצוי)</a:t>
            </a:r>
          </a:p>
          <a:p>
            <a:pPr lvl="1" algn="r" rtl="1">
              <a:lnSpc>
                <a:spcPct val="90000"/>
              </a:lnSpc>
            </a:pPr>
            <a:r>
              <a:rPr lang="he-IL" sz="1600" dirty="0"/>
              <a:t>רשימת </a:t>
            </a:r>
            <a:r>
              <a:rPr lang="en-US" sz="1600" b="1" dirty="0"/>
              <a:t>Actions</a:t>
            </a:r>
            <a:r>
              <a:rPr lang="en-US" sz="1600" dirty="0"/>
              <a:t> </a:t>
            </a:r>
            <a:r>
              <a:rPr lang="he-IL" sz="1600" dirty="0"/>
              <a:t> אפשריים</a:t>
            </a:r>
            <a:endParaRPr lang="en-US" sz="1600" dirty="0"/>
          </a:p>
          <a:p>
            <a:pPr algn="r" rtl="1">
              <a:lnSpc>
                <a:spcPct val="90000"/>
              </a:lnSpc>
            </a:pPr>
            <a:r>
              <a:rPr lang="he-IL" sz="1600" dirty="0"/>
              <a:t>ה־</a:t>
            </a:r>
            <a:r>
              <a:rPr lang="en-US" sz="1600" dirty="0"/>
              <a:t>Planner </a:t>
            </a:r>
            <a:r>
              <a:rPr lang="he-IL" sz="1600" dirty="0"/>
              <a:t> מחפש רצף פעולות חוקי שמוביל מהמצב הנוכחי למצב שמספק את ה־</a:t>
            </a:r>
            <a:r>
              <a:rPr lang="en-US" sz="1600" dirty="0"/>
              <a:t>Goal </a:t>
            </a:r>
          </a:p>
          <a:p>
            <a:pPr algn="r" rtl="1">
              <a:lnSpc>
                <a:spcPct val="90000"/>
              </a:lnSpc>
            </a:pPr>
            <a:r>
              <a:rPr lang="he-IL" sz="1600" dirty="0"/>
              <a:t>לכל </a:t>
            </a:r>
            <a:r>
              <a:rPr lang="en-US" sz="1600" dirty="0"/>
              <a:t>Action</a:t>
            </a:r>
          </a:p>
          <a:p>
            <a:pPr lvl="1" algn="r" rtl="1">
              <a:lnSpc>
                <a:spcPct val="90000"/>
              </a:lnSpc>
            </a:pPr>
            <a:r>
              <a:rPr lang="he-IL" sz="1600" dirty="0"/>
              <a:t>בודק אם היא אפשרית </a:t>
            </a:r>
            <a:r>
              <a:rPr lang="en-US" sz="1600" dirty="0"/>
              <a:t>(Preconditions)</a:t>
            </a:r>
          </a:p>
          <a:p>
            <a:pPr lvl="1" algn="r" rtl="1">
              <a:lnSpc>
                <a:spcPct val="90000"/>
              </a:lnSpc>
            </a:pPr>
            <a:r>
              <a:rPr lang="he-IL" sz="1600" dirty="0"/>
              <a:t>משנה את מצב העולם </a:t>
            </a:r>
            <a:r>
              <a:rPr lang="en-US" sz="1600" dirty="0"/>
              <a:t>Effects)</a:t>
            </a:r>
            <a:r>
              <a:rPr lang="he-IL" sz="1600" dirty="0"/>
              <a:t>)</a:t>
            </a:r>
            <a:endParaRPr lang="en-US" sz="1600" dirty="0"/>
          </a:p>
          <a:p>
            <a:pPr lvl="1" algn="r" rtl="1">
              <a:lnSpc>
                <a:spcPct val="90000"/>
              </a:lnSpc>
            </a:pPr>
            <a:r>
              <a:rPr lang="he-IL" sz="1600" dirty="0"/>
              <a:t>כוללת עלות </a:t>
            </a:r>
            <a:r>
              <a:rPr lang="en-US" sz="1600" dirty="0"/>
              <a:t>(Cost)</a:t>
            </a:r>
          </a:p>
          <a:p>
            <a:pPr algn="r" rtl="1">
              <a:lnSpc>
                <a:spcPct val="90000"/>
              </a:lnSpc>
            </a:pPr>
            <a:r>
              <a:rPr lang="he-IL" sz="1600" dirty="0"/>
              <a:t>תוצאת ה ־</a:t>
            </a:r>
            <a:r>
              <a:rPr lang="en-US" sz="1600" dirty="0"/>
              <a:t>Planner</a:t>
            </a:r>
          </a:p>
          <a:p>
            <a:pPr lvl="1" algn="r" rtl="1">
              <a:lnSpc>
                <a:spcPct val="90000"/>
              </a:lnSpc>
            </a:pPr>
            <a:r>
              <a:rPr lang="en-US" sz="1600" b="1" dirty="0"/>
              <a:t>Plan</a:t>
            </a:r>
            <a:r>
              <a:rPr lang="en-US" sz="1600" dirty="0"/>
              <a:t> </a:t>
            </a:r>
            <a:r>
              <a:rPr lang="he-IL" sz="1600" dirty="0"/>
              <a:t> רצף פעולות שמספק את ה־</a:t>
            </a:r>
            <a:r>
              <a:rPr lang="en-US" sz="1600" dirty="0"/>
              <a:t>Goal </a:t>
            </a:r>
          </a:p>
        </p:txBody>
      </p:sp>
      <p:pic>
        <p:nvPicPr>
          <p:cNvPr id="4" name="תמונה 3" descr="תמונה שמכילה טקסט, גופן, צילום מסך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A3DF810-54AE-6A56-F84B-14A98C994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55" y="1818204"/>
            <a:ext cx="2762636" cy="1162212"/>
          </a:xfrm>
          <a:prstGeom prst="rect">
            <a:avLst/>
          </a:prstGeom>
        </p:spPr>
      </p:pic>
      <p:sp>
        <p:nvSpPr>
          <p:cNvPr id="9" name="סוגר מסולסל שמאלי 8">
            <a:extLst>
              <a:ext uri="{FF2B5EF4-FFF2-40B4-BE49-F238E27FC236}">
                <a16:creationId xmlns:a16="http://schemas.microsoft.com/office/drawing/2014/main" id="{8A4696DE-D473-8D38-667F-484A64EC1FBE}"/>
              </a:ext>
            </a:extLst>
          </p:cNvPr>
          <p:cNvSpPr/>
          <p:nvPr/>
        </p:nvSpPr>
        <p:spPr>
          <a:xfrm>
            <a:off x="7353053" y="1976794"/>
            <a:ext cx="727587" cy="10036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D2220679-F843-2447-385B-34DC1A1FC993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3995691" y="2399310"/>
            <a:ext cx="3160495" cy="1089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766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31E0A-B7CA-4042-8ED2-61D4C6A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9099"/>
            <a:ext cx="3647493" cy="49658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 err="1"/>
              <a:t>איך</a:t>
            </a:r>
            <a:r>
              <a:rPr lang="en-US" dirty="0"/>
              <a:t> זה </a:t>
            </a:r>
            <a:r>
              <a:rPr lang="en-US" dirty="0" err="1"/>
              <a:t>עובד</a:t>
            </a:r>
            <a:r>
              <a:rPr lang="en-US" dirty="0"/>
              <a:t> </a:t>
            </a:r>
            <a:r>
              <a:rPr lang="en-US" dirty="0" err="1"/>
              <a:t>אצלנו</a:t>
            </a:r>
            <a:r>
              <a:rPr lang="en-US" dirty="0"/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E794AC50-AA1A-6CEC-B52A-CDC9DF99E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938" y="639099"/>
            <a:ext cx="6591346" cy="49658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ה־Planner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בונה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Plan  </a:t>
            </a:r>
            <a:r>
              <a:rPr kumimoji="0" lang="he-IL" altLang="he-IL" sz="1500" b="1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נפרד</a:t>
            </a: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לכל</a:t>
            </a: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 G</a:t>
            </a:r>
            <a:r>
              <a:rPr lang="en-US" altLang="he-IL" sz="1500" b="1" dirty="0"/>
              <a:t>oal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(Sleep / Hunger / Warmth).</a:t>
            </a: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החיפוש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מתבצע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כ־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Forward</a:t>
            </a: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 Search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על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WorldState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.</a:t>
            </a: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אלגוריתם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: </a:t>
            </a: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Dijkstra</a:t>
            </a:r>
            <a:endParaRPr kumimoji="0" lang="en-US" altLang="he-IL" sz="1500" b="0" i="0" u="none" strike="noStrike" normalizeH="0" baseline="0" dirty="0">
              <a:ln>
                <a:noFill/>
              </a:ln>
            </a:endParaRP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Nodes =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WorldState</a:t>
            </a:r>
            <a:endParaRPr kumimoji="0" lang="en-US" altLang="he-IL" sz="1500" b="0" i="0" u="none" strike="noStrike" normalizeH="0" baseline="0" dirty="0">
              <a:ln>
                <a:noFill/>
              </a:ln>
            </a:endParaRP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Edges = Actions</a:t>
            </a: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Cost =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זמן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תנועה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+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זמן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פעולה</a:t>
            </a:r>
            <a:r>
              <a:rPr lang="en-US" altLang="he-IL" sz="1500" dirty="0"/>
              <a:t>, זה </a:t>
            </a:r>
            <a:r>
              <a:rPr lang="en-US" altLang="he-IL" sz="1500" dirty="0" err="1"/>
              <a:t>המשקל</a:t>
            </a:r>
            <a:r>
              <a:rPr lang="en-US" altLang="he-IL" sz="1500" dirty="0"/>
              <a:t> של </a:t>
            </a:r>
            <a:r>
              <a:rPr lang="en-US" altLang="he-IL" sz="1500" dirty="0" err="1"/>
              <a:t>הצלע</a:t>
            </a:r>
            <a:r>
              <a:rPr lang="en-US" altLang="he-IL" sz="1500" dirty="0"/>
              <a:t>.</a:t>
            </a:r>
            <a:endParaRPr kumimoji="0" lang="en-US" altLang="he-IL" sz="1500" b="0" i="0" u="none" strike="noStrike" normalizeH="0" baseline="0" dirty="0">
              <a:ln>
                <a:noFill/>
              </a:ln>
            </a:endParaRP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ה־Planner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מחזיר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:</a:t>
            </a:r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Plan 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הזול</a:t>
            </a:r>
            <a:r>
              <a:rPr kumimoji="0" lang="en-US" altLang="he-IL" sz="1500" b="1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1" i="0" u="none" strike="noStrike" normalizeH="0" baseline="0" dirty="0" err="1">
                <a:ln>
                  <a:noFill/>
                </a:ln>
              </a:rPr>
              <a:t>ביותר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עבור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</a:t>
            </a:r>
            <a:r>
              <a:rPr kumimoji="0" lang="en-US" altLang="he-IL" sz="1500" b="0" i="0" u="none" strike="noStrike" normalizeH="0" baseline="0" dirty="0" err="1">
                <a:ln>
                  <a:noFill/>
                </a:ln>
              </a:rPr>
              <a:t>אותו</a:t>
            </a:r>
            <a:r>
              <a:rPr kumimoji="0" lang="en-US" altLang="he-IL" sz="1500" b="0" i="0" u="none" strike="noStrike" normalizeH="0" baseline="0" dirty="0">
                <a:ln>
                  <a:noFill/>
                </a:ln>
              </a:rPr>
              <a:t> Goal</a:t>
            </a:r>
            <a:endParaRPr lang="en-US" altLang="he-IL" sz="1500" dirty="0"/>
          </a:p>
          <a:p>
            <a:pPr marL="285750" marR="0" lvl="0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endParaRPr kumimoji="0" lang="en-US" altLang="he-IL" sz="1500" b="0" i="0" u="none" strike="noStrike" normalizeH="0" baseline="0" dirty="0">
              <a:ln>
                <a:noFill/>
              </a:ln>
            </a:endParaRPr>
          </a:p>
          <a:p>
            <a:pPr lvl="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altLang="he-IL" sz="1500" dirty="0" err="1"/>
              <a:t>הבחירה</a:t>
            </a:r>
            <a:r>
              <a:rPr lang="en-US" altLang="he-IL" sz="1500" dirty="0"/>
              <a:t> </a:t>
            </a:r>
            <a:r>
              <a:rPr lang="en-US" altLang="he-IL" sz="1500" i="1" dirty="0" err="1"/>
              <a:t>בין</a:t>
            </a:r>
            <a:r>
              <a:rPr lang="en-US" altLang="he-IL" sz="1500" dirty="0"/>
              <a:t> Plans </a:t>
            </a:r>
            <a:r>
              <a:rPr lang="en-US" altLang="he-IL" sz="1500" dirty="0" err="1"/>
              <a:t>שונים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נעשית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בשכבת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ה־Agent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לפי</a:t>
            </a:r>
            <a:r>
              <a:rPr lang="en-US" altLang="he-IL" sz="1500" dirty="0"/>
              <a:t>:</a:t>
            </a:r>
          </a:p>
          <a:p>
            <a:pPr marL="742950" lvl="1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altLang="he-IL" sz="1500" dirty="0" err="1"/>
              <a:t>עלות</a:t>
            </a:r>
            <a:r>
              <a:rPr lang="en-US" altLang="he-IL" sz="1500" dirty="0"/>
              <a:t> (</a:t>
            </a:r>
            <a:r>
              <a:rPr lang="en-US" altLang="he-IL" sz="1500" dirty="0" err="1"/>
              <a:t>הזמן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שלוקח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לבצע</a:t>
            </a:r>
            <a:r>
              <a:rPr lang="en-US" altLang="he-IL" sz="1500" dirty="0"/>
              <a:t> את </a:t>
            </a:r>
            <a:r>
              <a:rPr lang="en-US" altLang="he-IL" sz="1500" dirty="0" err="1"/>
              <a:t>ה</a:t>
            </a:r>
            <a:r>
              <a:rPr lang="en-US" altLang="he-IL" sz="1500" b="1" dirty="0" err="1"/>
              <a:t>תכנית</a:t>
            </a:r>
            <a:r>
              <a:rPr lang="en-US" altLang="he-IL" sz="1500" dirty="0"/>
              <a:t>) </a:t>
            </a:r>
          </a:p>
          <a:p>
            <a:pPr marL="742950" lvl="1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altLang="he-IL" sz="1500" dirty="0" err="1"/>
              <a:t>דחיפות</a:t>
            </a:r>
            <a:endParaRPr lang="en-US" altLang="he-IL" sz="1500" dirty="0"/>
          </a:p>
          <a:p>
            <a:pPr marL="742950" lvl="1" indent="-28575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altLang="he-IL" sz="1500" dirty="0" err="1"/>
              <a:t>העדפה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אישית</a:t>
            </a:r>
            <a:endParaRPr lang="en-US" altLang="he-IL" sz="1500" dirty="0"/>
          </a:p>
          <a:p>
            <a:pPr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altLang="he-IL" sz="1500" dirty="0"/>
          </a:p>
          <a:p>
            <a:pPr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altLang="he-IL" sz="1500" dirty="0"/>
              <a:t>(</a:t>
            </a:r>
            <a:r>
              <a:rPr lang="en-US" altLang="he-IL" sz="1500" dirty="0" err="1"/>
              <a:t>ועליה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נסביר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בשקפים</a:t>
            </a:r>
            <a:r>
              <a:rPr lang="en-US" altLang="he-IL" sz="1500" dirty="0"/>
              <a:t> </a:t>
            </a:r>
            <a:r>
              <a:rPr lang="en-US" altLang="he-IL" sz="1500" dirty="0" err="1"/>
              <a:t>הבאים</a:t>
            </a:r>
            <a:r>
              <a:rPr lang="en-US" altLang="he-IL" sz="1500" dirty="0"/>
              <a:t>)</a:t>
            </a:r>
          </a:p>
          <a:p>
            <a:pPr marR="0" lvl="0" algn="r" rtl="1" fontAlgn="base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tabLst/>
            </a:pPr>
            <a:endParaRPr kumimoji="0" lang="en-US" altLang="he-IL" sz="1500" b="0" i="0" u="none" strike="noStrike" normalizeH="0" baseline="0" dirty="0">
              <a:ln>
                <a:noFill/>
              </a:ln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55CB761D-9F6F-CDC3-5A97-D419B2051EFB}"/>
              </a:ext>
            </a:extLst>
          </p:cNvPr>
          <p:cNvSpPr txBox="1"/>
          <p:nvPr/>
        </p:nvSpPr>
        <p:spPr>
          <a:xfrm>
            <a:off x="-3729397" y="5755852"/>
            <a:ext cx="619661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spcAft>
                <a:spcPts val="600"/>
              </a:spcAft>
            </a:pPr>
            <a:r>
              <a:rPr lang="he-IL" sz="2000" dirty="0"/>
              <a:t>(מעבר על הקובץ 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US" sz="2000" dirty="0" err="1"/>
              <a:t>GoapPlanner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2648593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C413DAD-7885-FDB9-7B0A-ACD65A96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r>
              <a:rPr lang="he-IL" dirty="0"/>
              <a:t>עלות ( זמן)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E542FCE-236E-3C12-7054-6747358AE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4767944"/>
          </a:xfrm>
        </p:spPr>
        <p:txBody>
          <a:bodyPr anchor="ctr">
            <a:normAutofit/>
          </a:bodyPr>
          <a:lstStyle/>
          <a:p>
            <a:pPr algn="r" rtl="1"/>
            <a:r>
              <a:rPr lang="he-IL" sz="2000" dirty="0"/>
              <a:t>העלות של סך הפעולות </a:t>
            </a:r>
            <a:r>
              <a:rPr lang="he-IL" sz="2000" dirty="0" err="1"/>
              <a:t>בתכנית</a:t>
            </a:r>
            <a:r>
              <a:rPr lang="he-IL" sz="2000" dirty="0"/>
              <a:t> מחושבת ע"י זמן קבוע של שנייה שמוגדר לכל פעולה שאינה הליכה (</a:t>
            </a:r>
            <a:r>
              <a:rPr lang="en-US" sz="2000" dirty="0"/>
              <a:t> </a:t>
            </a:r>
            <a:r>
              <a:rPr lang="he-IL" sz="2000" dirty="0"/>
              <a:t>לבנות תחנה, להשתמש בתחנה, לחטוב עץ).</a:t>
            </a:r>
          </a:p>
          <a:p>
            <a:pPr algn="r" rtl="1"/>
            <a:r>
              <a:rPr lang="he-IL" sz="2000" dirty="0"/>
              <a:t>את העלות של זמן ההליכה, אנו מחשבים ע"י המרחק שיש ללכת חלקי המהירות.</a:t>
            </a:r>
          </a:p>
          <a:p>
            <a:pPr algn="r" rtl="1"/>
            <a:r>
              <a:rPr lang="he-IL" sz="2000" dirty="0"/>
              <a:t>העלות היא הסכום של </a:t>
            </a:r>
            <a:r>
              <a:rPr lang="he-IL" sz="2000" dirty="0" err="1"/>
              <a:t>שתיהם</a:t>
            </a:r>
            <a:r>
              <a:rPr lang="he-I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137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B1AA331-314A-943B-D0CA-7C3B09BB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he-IL" dirty="0"/>
              <a:t>העדפה אישית</a:t>
            </a:r>
            <a:endParaRPr lang="he-IL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2CD4845-69B6-D56F-972B-FDA608E42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4767944"/>
          </a:xfrm>
        </p:spPr>
        <p:txBody>
          <a:bodyPr anchor="ctr">
            <a:normAutofit/>
          </a:bodyPr>
          <a:lstStyle/>
          <a:p>
            <a:pPr algn="r" rtl="1">
              <a:lnSpc>
                <a:spcPct val="90000"/>
              </a:lnSpc>
            </a:pPr>
            <a:r>
              <a:rPr lang="he-IL" sz="2000" dirty="0"/>
              <a:t>יש 3 סוגי </a:t>
            </a:r>
            <a:r>
              <a:rPr lang="en-US" sz="2000" dirty="0"/>
              <a:t>NPC </a:t>
            </a:r>
          </a:p>
          <a:p>
            <a:pPr lvl="1" algn="r" rtl="1">
              <a:lnSpc>
                <a:spcPct val="90000"/>
              </a:lnSpc>
            </a:pPr>
            <a:r>
              <a:rPr lang="en-US" dirty="0" err="1"/>
              <a:t>SleepGuy</a:t>
            </a:r>
            <a:endParaRPr lang="en-US" dirty="0"/>
          </a:p>
          <a:p>
            <a:pPr lvl="1" algn="r" rtl="1">
              <a:lnSpc>
                <a:spcPct val="90000"/>
              </a:lnSpc>
            </a:pPr>
            <a:r>
              <a:rPr lang="en-US" dirty="0" err="1"/>
              <a:t>WarmthGuy</a:t>
            </a:r>
            <a:endParaRPr lang="en-US" dirty="0"/>
          </a:p>
          <a:p>
            <a:pPr lvl="1" algn="r" rtl="1">
              <a:lnSpc>
                <a:spcPct val="90000"/>
              </a:lnSpc>
            </a:pPr>
            <a:r>
              <a:rPr lang="en-US" dirty="0" err="1"/>
              <a:t>FatGuy</a:t>
            </a:r>
            <a:endParaRPr lang="he-IL" dirty="0"/>
          </a:p>
          <a:p>
            <a:pPr algn="r" rtl="1">
              <a:lnSpc>
                <a:spcPct val="90000"/>
              </a:lnSpc>
            </a:pPr>
            <a:r>
              <a:rPr lang="he-IL" sz="2000" dirty="0"/>
              <a:t>לכל אחד מהם מוצמד </a:t>
            </a:r>
            <a:r>
              <a:rPr lang="en-US" sz="2000" dirty="0"/>
              <a:t>Preference Multiplier</a:t>
            </a:r>
            <a:r>
              <a:rPr lang="he-IL" sz="2000" dirty="0"/>
              <a:t> לכל סוג </a:t>
            </a:r>
            <a:r>
              <a:rPr lang="en-US" sz="2000" dirty="0"/>
              <a:t>Goal</a:t>
            </a:r>
            <a:endParaRPr lang="he-IL" sz="2000" dirty="0"/>
          </a:p>
          <a:p>
            <a:pPr lvl="1" algn="r" rtl="1">
              <a:lnSpc>
                <a:spcPct val="90000"/>
              </a:lnSpc>
            </a:pPr>
            <a:r>
              <a:rPr lang="he-IL" dirty="0"/>
              <a:t>0.8</a:t>
            </a:r>
            <a:r>
              <a:rPr lang="en-US" dirty="0"/>
              <a:t> </a:t>
            </a:r>
            <a:r>
              <a:rPr lang="he-IL" dirty="0"/>
              <a:t> אם זה ה </a:t>
            </a:r>
            <a:r>
              <a:rPr lang="en-US" dirty="0"/>
              <a:t>Goal </a:t>
            </a:r>
            <a:r>
              <a:rPr lang="he-IL" dirty="0"/>
              <a:t> שלך</a:t>
            </a:r>
          </a:p>
          <a:p>
            <a:pPr lvl="1" algn="r" rtl="1">
              <a:lnSpc>
                <a:spcPct val="90000"/>
              </a:lnSpc>
            </a:pPr>
            <a:r>
              <a:rPr lang="he-IL" dirty="0"/>
              <a:t>1 אחרת</a:t>
            </a:r>
          </a:p>
          <a:p>
            <a:pPr algn="r" rtl="1">
              <a:lnSpc>
                <a:spcPct val="90000"/>
              </a:lnSpc>
            </a:pPr>
            <a:r>
              <a:rPr lang="he-IL" sz="2000" dirty="0"/>
              <a:t>לדוגמה </a:t>
            </a:r>
            <a:r>
              <a:rPr lang="en-US" sz="2000" dirty="0" err="1"/>
              <a:t>SleepGuy</a:t>
            </a:r>
            <a:br>
              <a:rPr lang="en-US" sz="2000" dirty="0"/>
            </a:br>
            <a:r>
              <a:rPr lang="en-US" sz="2000" dirty="0"/>
              <a:t> :</a:t>
            </a:r>
            <a:r>
              <a:rPr lang="en-US" sz="2000" dirty="0" err="1"/>
              <a:t>SleepMultiplier</a:t>
            </a:r>
            <a:r>
              <a:rPr lang="en-US" sz="2000" dirty="0"/>
              <a:t> </a:t>
            </a:r>
            <a:r>
              <a:rPr lang="he-IL" sz="2000" dirty="0"/>
              <a:t>0.8 </a:t>
            </a:r>
          </a:p>
          <a:p>
            <a:pPr algn="r" rtl="1">
              <a:lnSpc>
                <a:spcPct val="90000"/>
              </a:lnSpc>
            </a:pPr>
            <a:r>
              <a:rPr lang="en-US" sz="2000" dirty="0"/>
              <a:t>1 :</a:t>
            </a:r>
            <a:r>
              <a:rPr lang="en-US" sz="2000" dirty="0" err="1"/>
              <a:t>WarmthMultiplier</a:t>
            </a:r>
            <a:endParaRPr lang="he-IL" sz="2000" dirty="0"/>
          </a:p>
          <a:p>
            <a:pPr algn="r" rtl="1">
              <a:lnSpc>
                <a:spcPct val="90000"/>
              </a:lnSpc>
            </a:pPr>
            <a:r>
              <a:rPr lang="en-US" sz="2000" dirty="0"/>
              <a:t> 1 :</a:t>
            </a:r>
            <a:r>
              <a:rPr lang="en-US" sz="2000" dirty="0" err="1"/>
              <a:t>HungerMultiplier</a:t>
            </a:r>
            <a:endParaRPr lang="he-IL" sz="2000" dirty="0"/>
          </a:p>
          <a:p>
            <a:pPr algn="r" rtl="1">
              <a:lnSpc>
                <a:spcPct val="90000"/>
              </a:lnSpc>
            </a:pP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941578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31E0A-B7CA-4042-8ED2-61D4C6A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786" y="76158"/>
            <a:ext cx="8256137" cy="1969600"/>
          </a:xfrm>
        </p:spPr>
        <p:txBody>
          <a:bodyPr>
            <a:normAutofit/>
          </a:bodyPr>
          <a:lstStyle/>
          <a:p>
            <a:pPr rtl="1"/>
            <a:r>
              <a:rPr lang="en-US" sz="3600" b="1"/>
              <a:t> Urgent / Critical </a:t>
            </a:r>
            <a:r>
              <a:rPr lang="he-IL" sz="3600" b="1"/>
              <a:t>ספי דחיפות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B905-9402-49E6-94E9-A80188A2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algn="r" rtl="1">
              <a:lnSpc>
                <a:spcPct val="90000"/>
              </a:lnSpc>
            </a:pPr>
            <a:r>
              <a:rPr lang="he-IL" sz="1400" dirty="0"/>
              <a:t>לכל צורך (שינה / אוכל / חום) יש </a:t>
            </a:r>
            <a:r>
              <a:rPr lang="he-IL" sz="1400" b="1" dirty="0"/>
              <a:t>מד </a:t>
            </a:r>
            <a:r>
              <a:rPr lang="he-IL" sz="1400" dirty="0"/>
              <a:t>בטווח 0–100.</a:t>
            </a:r>
          </a:p>
          <a:p>
            <a:pPr algn="r" rtl="1">
              <a:lnSpc>
                <a:spcPct val="90000"/>
              </a:lnSpc>
            </a:pPr>
            <a:r>
              <a:rPr lang="he-IL" sz="1400" dirty="0"/>
              <a:t>שני ספים מגדירים מתי הצורך נחשב דחוף:</a:t>
            </a:r>
          </a:p>
          <a:p>
            <a:pPr algn="r" rtl="1">
              <a:lnSpc>
                <a:spcPct val="90000"/>
              </a:lnSpc>
            </a:pPr>
            <a:r>
              <a:rPr lang="he-IL" sz="1400" b="1" dirty="0"/>
              <a:t>🟢 </a:t>
            </a:r>
            <a:r>
              <a:rPr lang="en-US" sz="1400" b="1" dirty="0"/>
              <a:t>Urgent</a:t>
            </a:r>
          </a:p>
          <a:p>
            <a:pPr lvl="1" algn="r" rtl="1">
              <a:lnSpc>
                <a:spcPct val="90000"/>
              </a:lnSpc>
            </a:pPr>
            <a:r>
              <a:rPr lang="he-IL" sz="1400" dirty="0"/>
              <a:t>ערך מד שמעליו הצורך </a:t>
            </a:r>
            <a:r>
              <a:rPr lang="he-IL" sz="1400" b="1" dirty="0"/>
              <a:t>לא דחוף בכלל</a:t>
            </a:r>
            <a:r>
              <a:rPr lang="he-IL" sz="1400" dirty="0"/>
              <a:t>.</a:t>
            </a:r>
          </a:p>
          <a:p>
            <a:pPr lvl="1" algn="r" rtl="1">
              <a:lnSpc>
                <a:spcPct val="90000"/>
              </a:lnSpc>
            </a:pPr>
            <a:r>
              <a:rPr lang="he-IL" sz="1400" dirty="0"/>
              <a:t>כאשר </a:t>
            </a:r>
            <a:r>
              <a:rPr lang="en-US" sz="1400" dirty="0"/>
              <a:t>meter ≥ urgent</a:t>
            </a:r>
            <a:br>
              <a:rPr lang="en-US" sz="1400" dirty="0"/>
            </a:br>
            <a:r>
              <a:rPr lang="en-US" sz="1400" dirty="0"/>
              <a:t>→ urgency = 0</a:t>
            </a:r>
          </a:p>
          <a:p>
            <a:pPr lvl="1" algn="r" rtl="1">
              <a:lnSpc>
                <a:spcPct val="90000"/>
              </a:lnSpc>
            </a:pPr>
            <a:r>
              <a:rPr lang="he-IL" sz="1400" dirty="0"/>
              <a:t>כלומר: אין לחץ לטפל בצורך הזה כרגע.</a:t>
            </a:r>
          </a:p>
          <a:p>
            <a:pPr algn="r" rtl="1">
              <a:lnSpc>
                <a:spcPct val="90000"/>
              </a:lnSpc>
            </a:pPr>
            <a:r>
              <a:rPr lang="he-IL" sz="1400" b="1" dirty="0"/>
              <a:t>🔴 </a:t>
            </a:r>
            <a:r>
              <a:rPr lang="en-US" sz="1400" b="1" dirty="0"/>
              <a:t>Critical</a:t>
            </a:r>
          </a:p>
          <a:p>
            <a:pPr lvl="1" algn="r" rtl="1">
              <a:lnSpc>
                <a:spcPct val="90000"/>
              </a:lnSpc>
            </a:pPr>
            <a:r>
              <a:rPr lang="he-IL" sz="1400" dirty="0"/>
              <a:t>ערך מד שמתחתיו הצורך </a:t>
            </a:r>
            <a:r>
              <a:rPr lang="he-IL" sz="1400" b="1" dirty="0"/>
              <a:t>דחוף מקסימלית</a:t>
            </a:r>
            <a:r>
              <a:rPr lang="he-IL" sz="1400" dirty="0"/>
              <a:t>.</a:t>
            </a:r>
          </a:p>
          <a:p>
            <a:pPr lvl="1" algn="r" rtl="1">
              <a:lnSpc>
                <a:spcPct val="90000"/>
              </a:lnSpc>
            </a:pPr>
            <a:r>
              <a:rPr lang="he-IL" sz="1400" dirty="0"/>
              <a:t>כאשר </a:t>
            </a:r>
            <a:r>
              <a:rPr lang="en-US" sz="1400" dirty="0"/>
              <a:t>meter ≤ critical</a:t>
            </a:r>
            <a:br>
              <a:rPr lang="en-US" sz="1400" dirty="0"/>
            </a:br>
            <a:r>
              <a:rPr lang="en-US" sz="1400" dirty="0"/>
              <a:t>→ urgency = 1</a:t>
            </a:r>
          </a:p>
          <a:p>
            <a:pPr lvl="1" algn="r" rtl="1">
              <a:lnSpc>
                <a:spcPct val="90000"/>
              </a:lnSpc>
            </a:pPr>
            <a:r>
              <a:rPr lang="he-IL" sz="1400" dirty="0"/>
              <a:t>כלומר: הצורך חייב טיפול </a:t>
            </a:r>
            <a:r>
              <a:rPr lang="he-IL" sz="1400" dirty="0" err="1"/>
              <a:t>מיידי</a:t>
            </a:r>
            <a:r>
              <a:rPr lang="he-IL" sz="1400" dirty="0"/>
              <a:t>.</a:t>
            </a:r>
          </a:p>
          <a:p>
            <a:pPr algn="r" rtl="1">
              <a:lnSpc>
                <a:spcPct val="90000"/>
              </a:lnSpc>
            </a:pPr>
            <a:r>
              <a:rPr lang="he-IL" sz="1400" dirty="0"/>
              <a:t>אם ערך </a:t>
            </a:r>
            <a:r>
              <a:rPr lang="he-IL" sz="1400" dirty="0" err="1"/>
              <a:t>המד</a:t>
            </a:r>
            <a:r>
              <a:rPr lang="he-IL" sz="1400" dirty="0"/>
              <a:t> נמצא </a:t>
            </a:r>
            <a:r>
              <a:rPr lang="he-IL" sz="1400" b="1" dirty="0"/>
              <a:t>בין שני הספים</a:t>
            </a:r>
            <a:r>
              <a:rPr lang="he-IL" sz="1400" dirty="0"/>
              <a:t>, הדחיפות עולה </a:t>
            </a:r>
            <a:r>
              <a:rPr lang="he-IL" sz="1400" b="1" dirty="0"/>
              <a:t>באופן ליניארי</a:t>
            </a:r>
            <a:r>
              <a:rPr lang="he-IL" sz="1400" dirty="0"/>
              <a:t> מ־0 ל־1</a:t>
            </a:r>
          </a:p>
          <a:p>
            <a:pPr algn="r" rtl="1">
              <a:lnSpc>
                <a:spcPct val="90000"/>
              </a:lnSpc>
            </a:pPr>
            <a:endParaRPr lang="he-IL" sz="1400" b="1" dirty="0"/>
          </a:p>
        </p:txBody>
      </p:sp>
      <p:pic>
        <p:nvPicPr>
          <p:cNvPr id="17" name="תמונה 16" descr="תמונה שמכילה טקסט, צילום מסך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9E10807-7546-45B1-4D63-206CAA4D7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79" y="1477190"/>
            <a:ext cx="4767897" cy="346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14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FF64A51-0B9E-4405-A276-88E23C246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B9B3D5D-FAFA-4C3E-85A7-25E2B5A56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912130" cy="6858000"/>
          </a:xfrm>
          <a:custGeom>
            <a:avLst/>
            <a:gdLst>
              <a:gd name="connsiteX0" fmla="*/ 1073044 w 7912130"/>
              <a:gd name="connsiteY0" fmla="*/ 3032931 h 6858000"/>
              <a:gd name="connsiteX1" fmla="*/ 1073044 w 7912130"/>
              <a:gd name="connsiteY1" fmla="*/ 3035810 h 6858000"/>
              <a:gd name="connsiteX2" fmla="*/ 1076802 w 7912130"/>
              <a:gd name="connsiteY2" fmla="*/ 3035810 h 6858000"/>
              <a:gd name="connsiteX3" fmla="*/ 1170738 w 7912130"/>
              <a:gd name="connsiteY3" fmla="*/ 1248347 h 6858000"/>
              <a:gd name="connsiteX4" fmla="*/ 1170738 w 7912130"/>
              <a:gd name="connsiteY4" fmla="*/ 1273486 h 6858000"/>
              <a:gd name="connsiteX5" fmla="*/ 1183895 w 7912130"/>
              <a:gd name="connsiteY5" fmla="*/ 1248347 h 6858000"/>
              <a:gd name="connsiteX6" fmla="*/ 0 w 7912130"/>
              <a:gd name="connsiteY6" fmla="*/ 0 h 6858000"/>
              <a:gd name="connsiteX7" fmla="*/ 2133906 w 7912130"/>
              <a:gd name="connsiteY7" fmla="*/ 0 h 6858000"/>
              <a:gd name="connsiteX8" fmla="*/ 2629909 w 7912130"/>
              <a:gd name="connsiteY8" fmla="*/ 0 h 6858000"/>
              <a:gd name="connsiteX9" fmla="*/ 1227479 w 7912130"/>
              <a:gd name="connsiteY9" fmla="*/ 2669551 h 6858000"/>
              <a:gd name="connsiteX10" fmla="*/ 1235349 w 7912130"/>
              <a:gd name="connsiteY10" fmla="*/ 2673350 h 6858000"/>
              <a:gd name="connsiteX11" fmla="*/ 1353755 w 7912130"/>
              <a:gd name="connsiteY11" fmla="*/ 2754312 h 6858000"/>
              <a:gd name="connsiteX12" fmla="*/ 7912130 w 7912130"/>
              <a:gd name="connsiteY12" fmla="*/ 6858000 h 6858000"/>
              <a:gd name="connsiteX13" fmla="*/ 6066970 w 7912130"/>
              <a:gd name="connsiteY13" fmla="*/ 6858000 h 6858000"/>
              <a:gd name="connsiteX14" fmla="*/ 6059889 w 7912130"/>
              <a:gd name="connsiteY14" fmla="*/ 6852577 h 6858000"/>
              <a:gd name="connsiteX15" fmla="*/ 6059889 w 7912130"/>
              <a:gd name="connsiteY15" fmla="*/ 6857999 h 6858000"/>
              <a:gd name="connsiteX16" fmla="*/ 1707025 w 7912130"/>
              <a:gd name="connsiteY16" fmla="*/ 6857999 h 6858000"/>
              <a:gd name="connsiteX17" fmla="*/ 1707025 w 7912130"/>
              <a:gd name="connsiteY17" fmla="*/ 6858000 h 6858000"/>
              <a:gd name="connsiteX18" fmla="*/ 1073044 w 7912130"/>
              <a:gd name="connsiteY18" fmla="*/ 6858000 h 6858000"/>
              <a:gd name="connsiteX19" fmla="*/ 536592 w 7912130"/>
              <a:gd name="connsiteY19" fmla="*/ 6858000 h 6858000"/>
              <a:gd name="connsiteX20" fmla="*/ 0 w 7912130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912130" h="6858000">
                <a:moveTo>
                  <a:pt x="1073044" y="3032931"/>
                </a:moveTo>
                <a:lnTo>
                  <a:pt x="1073044" y="3035810"/>
                </a:lnTo>
                <a:lnTo>
                  <a:pt x="1076802" y="3035810"/>
                </a:lnTo>
                <a:close/>
                <a:moveTo>
                  <a:pt x="1170738" y="1248347"/>
                </a:moveTo>
                <a:lnTo>
                  <a:pt x="1170738" y="1273486"/>
                </a:lnTo>
                <a:lnTo>
                  <a:pt x="1183895" y="1248347"/>
                </a:lnTo>
                <a:close/>
                <a:moveTo>
                  <a:pt x="0" y="0"/>
                </a:moveTo>
                <a:lnTo>
                  <a:pt x="2133906" y="0"/>
                </a:lnTo>
                <a:lnTo>
                  <a:pt x="2629909" y="0"/>
                </a:lnTo>
                <a:lnTo>
                  <a:pt x="1227479" y="2669551"/>
                </a:lnTo>
                <a:lnTo>
                  <a:pt x="1235349" y="2673350"/>
                </a:lnTo>
                <a:lnTo>
                  <a:pt x="1353755" y="2754312"/>
                </a:lnTo>
                <a:lnTo>
                  <a:pt x="7912130" y="6858000"/>
                </a:lnTo>
                <a:lnTo>
                  <a:pt x="6066970" y="6858000"/>
                </a:lnTo>
                <a:lnTo>
                  <a:pt x="6059889" y="6852577"/>
                </a:lnTo>
                <a:lnTo>
                  <a:pt x="6059889" y="6857999"/>
                </a:lnTo>
                <a:lnTo>
                  <a:pt x="1707025" y="6857999"/>
                </a:lnTo>
                <a:lnTo>
                  <a:pt x="1707025" y="6858000"/>
                </a:lnTo>
                <a:lnTo>
                  <a:pt x="1073044" y="6858000"/>
                </a:lnTo>
                <a:lnTo>
                  <a:pt x="5365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1EBD0-A060-48EA-BCD1-847EA8790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35917" cy="6858000"/>
          </a:xfrm>
          <a:custGeom>
            <a:avLst/>
            <a:gdLst>
              <a:gd name="connsiteX0" fmla="*/ 696831 w 7535917"/>
              <a:gd name="connsiteY0" fmla="*/ 3032931 h 6858000"/>
              <a:gd name="connsiteX1" fmla="*/ 696831 w 7535917"/>
              <a:gd name="connsiteY1" fmla="*/ 3035810 h 6858000"/>
              <a:gd name="connsiteX2" fmla="*/ 700589 w 7535917"/>
              <a:gd name="connsiteY2" fmla="*/ 3035810 h 6858000"/>
              <a:gd name="connsiteX3" fmla="*/ 794525 w 7535917"/>
              <a:gd name="connsiteY3" fmla="*/ 1248347 h 6858000"/>
              <a:gd name="connsiteX4" fmla="*/ 794525 w 7535917"/>
              <a:gd name="connsiteY4" fmla="*/ 1273486 h 6858000"/>
              <a:gd name="connsiteX5" fmla="*/ 807682 w 7535917"/>
              <a:gd name="connsiteY5" fmla="*/ 1248347 h 6858000"/>
              <a:gd name="connsiteX6" fmla="*/ 0 w 7535917"/>
              <a:gd name="connsiteY6" fmla="*/ 0 h 6858000"/>
              <a:gd name="connsiteX7" fmla="*/ 1757693 w 7535917"/>
              <a:gd name="connsiteY7" fmla="*/ 0 h 6858000"/>
              <a:gd name="connsiteX8" fmla="*/ 2253696 w 7535917"/>
              <a:gd name="connsiteY8" fmla="*/ 0 h 6858000"/>
              <a:gd name="connsiteX9" fmla="*/ 851266 w 7535917"/>
              <a:gd name="connsiteY9" fmla="*/ 2669551 h 6858000"/>
              <a:gd name="connsiteX10" fmla="*/ 859136 w 7535917"/>
              <a:gd name="connsiteY10" fmla="*/ 2673350 h 6858000"/>
              <a:gd name="connsiteX11" fmla="*/ 977542 w 7535917"/>
              <a:gd name="connsiteY11" fmla="*/ 2754312 h 6858000"/>
              <a:gd name="connsiteX12" fmla="*/ 7535917 w 7535917"/>
              <a:gd name="connsiteY12" fmla="*/ 6858000 h 6858000"/>
              <a:gd name="connsiteX13" fmla="*/ 5690757 w 7535917"/>
              <a:gd name="connsiteY13" fmla="*/ 6858000 h 6858000"/>
              <a:gd name="connsiteX14" fmla="*/ 5683676 w 7535917"/>
              <a:gd name="connsiteY14" fmla="*/ 6852577 h 6858000"/>
              <a:gd name="connsiteX15" fmla="*/ 5683676 w 7535917"/>
              <a:gd name="connsiteY15" fmla="*/ 6857999 h 6858000"/>
              <a:gd name="connsiteX16" fmla="*/ 1330812 w 7535917"/>
              <a:gd name="connsiteY16" fmla="*/ 6857999 h 6858000"/>
              <a:gd name="connsiteX17" fmla="*/ 1330812 w 7535917"/>
              <a:gd name="connsiteY17" fmla="*/ 6858000 h 6858000"/>
              <a:gd name="connsiteX18" fmla="*/ 696831 w 7535917"/>
              <a:gd name="connsiteY18" fmla="*/ 6858000 h 6858000"/>
              <a:gd name="connsiteX19" fmla="*/ 160379 w 7535917"/>
              <a:gd name="connsiteY19" fmla="*/ 6858000 h 6858000"/>
              <a:gd name="connsiteX20" fmla="*/ 0 w 7535917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535917" h="6858000">
                <a:moveTo>
                  <a:pt x="696831" y="3032931"/>
                </a:moveTo>
                <a:lnTo>
                  <a:pt x="696831" y="3035810"/>
                </a:lnTo>
                <a:lnTo>
                  <a:pt x="700589" y="3035810"/>
                </a:lnTo>
                <a:close/>
                <a:moveTo>
                  <a:pt x="794525" y="1248347"/>
                </a:moveTo>
                <a:lnTo>
                  <a:pt x="794525" y="1273486"/>
                </a:lnTo>
                <a:lnTo>
                  <a:pt x="807682" y="1248347"/>
                </a:lnTo>
                <a:close/>
                <a:moveTo>
                  <a:pt x="0" y="0"/>
                </a:moveTo>
                <a:lnTo>
                  <a:pt x="1757693" y="0"/>
                </a:lnTo>
                <a:lnTo>
                  <a:pt x="2253696" y="0"/>
                </a:lnTo>
                <a:lnTo>
                  <a:pt x="851266" y="2669551"/>
                </a:lnTo>
                <a:lnTo>
                  <a:pt x="859136" y="2673350"/>
                </a:lnTo>
                <a:lnTo>
                  <a:pt x="977542" y="2754312"/>
                </a:lnTo>
                <a:lnTo>
                  <a:pt x="7535917" y="6858000"/>
                </a:lnTo>
                <a:lnTo>
                  <a:pt x="5690757" y="6858000"/>
                </a:lnTo>
                <a:lnTo>
                  <a:pt x="5683676" y="6852577"/>
                </a:lnTo>
                <a:lnTo>
                  <a:pt x="5683676" y="6857999"/>
                </a:lnTo>
                <a:lnTo>
                  <a:pt x="1330812" y="6857999"/>
                </a:lnTo>
                <a:lnTo>
                  <a:pt x="1330812" y="6858000"/>
                </a:lnTo>
                <a:lnTo>
                  <a:pt x="696831" y="6858000"/>
                </a:lnTo>
                <a:lnTo>
                  <a:pt x="1603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0AD61-83A5-4878-96A6-1FE172A4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010" y="200417"/>
            <a:ext cx="5226065" cy="19039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 dirty="0" err="1"/>
              <a:t>הנוסחה</a:t>
            </a:r>
            <a:r>
              <a:rPr lang="en-US" sz="2800" dirty="0"/>
              <a:t> </a:t>
            </a:r>
            <a:r>
              <a:rPr lang="en-US" sz="2800" dirty="0" err="1"/>
              <a:t>לחישוב</a:t>
            </a:r>
            <a:r>
              <a:rPr lang="en-US" sz="2800" dirty="0"/>
              <a:t> </a:t>
            </a:r>
            <a:r>
              <a:rPr lang="en-US" sz="2800" dirty="0" err="1"/>
              <a:t>הציון</a:t>
            </a:r>
            <a:r>
              <a:rPr lang="en-US" sz="2800" dirty="0"/>
              <a:t> </a:t>
            </a:r>
            <a:r>
              <a:rPr lang="en-US" sz="2800" dirty="0" err="1"/>
              <a:t>לתכנית</a:t>
            </a:r>
            <a:endParaRPr lang="en-US" sz="28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A074F625-5010-88EF-D8D6-5FC58B693842}"/>
              </a:ext>
            </a:extLst>
          </p:cNvPr>
          <p:cNvSpPr txBox="1"/>
          <p:nvPr/>
        </p:nvSpPr>
        <p:spPr>
          <a:xfrm>
            <a:off x="6665510" y="3326322"/>
            <a:ext cx="4895705" cy="39707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rtl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b="1" dirty="0" err="1"/>
              <a:t>בוחרים</a:t>
            </a:r>
            <a:r>
              <a:rPr lang="en-US" b="1" dirty="0"/>
              <a:t> את </a:t>
            </a:r>
            <a:r>
              <a:rPr lang="en-US" b="1" dirty="0" err="1"/>
              <a:t>התכנית</a:t>
            </a:r>
            <a:r>
              <a:rPr lang="en-US" b="1" dirty="0"/>
              <a:t> </a:t>
            </a:r>
            <a:r>
              <a:rPr lang="en-US" b="1" dirty="0" err="1"/>
              <a:t>עם</a:t>
            </a:r>
            <a:r>
              <a:rPr lang="en-US" b="1" dirty="0"/>
              <a:t> </a:t>
            </a:r>
            <a:r>
              <a:rPr lang="en-US" b="1" dirty="0" err="1"/>
              <a:t>הציון</a:t>
            </a:r>
            <a:r>
              <a:rPr lang="en-US" b="1" dirty="0"/>
              <a:t> </a:t>
            </a:r>
            <a:r>
              <a:rPr lang="en-US" b="1" dirty="0" err="1"/>
              <a:t>הנמוך</a:t>
            </a:r>
            <a:r>
              <a:rPr lang="en-US" b="1" dirty="0"/>
              <a:t> </a:t>
            </a:r>
            <a:r>
              <a:rPr lang="en-US" b="1" dirty="0" err="1"/>
              <a:t>ביותר</a:t>
            </a:r>
            <a:r>
              <a:rPr lang="en-US" b="1" dirty="0"/>
              <a:t>!</a:t>
            </a:r>
          </a:p>
          <a:p>
            <a:pPr algn="r" rtl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 err="1"/>
              <a:t>למה</a:t>
            </a:r>
            <a:r>
              <a:rPr lang="en-US" dirty="0"/>
              <a:t> </a:t>
            </a:r>
            <a:r>
              <a:rPr lang="en-US" dirty="0" err="1"/>
              <a:t>הנוסחה</a:t>
            </a:r>
            <a:r>
              <a:rPr lang="en-US" dirty="0"/>
              <a:t> </a:t>
            </a:r>
            <a:r>
              <a:rPr lang="en-US" dirty="0" err="1"/>
              <a:t>הזו</a:t>
            </a:r>
            <a:r>
              <a:rPr lang="en-US" dirty="0"/>
              <a:t> </a:t>
            </a:r>
            <a:r>
              <a:rPr lang="en-US" dirty="0" err="1"/>
              <a:t>עובדת</a:t>
            </a:r>
            <a:r>
              <a:rPr lang="en-US" dirty="0"/>
              <a:t>? </a:t>
            </a:r>
            <a:r>
              <a:rPr lang="en-US" dirty="0" err="1"/>
              <a:t>מדדי</a:t>
            </a:r>
            <a:r>
              <a:rPr lang="en-US" dirty="0"/>
              <a:t> </a:t>
            </a:r>
            <a:r>
              <a:rPr lang="en-US" dirty="0" err="1"/>
              <a:t>הNPC</a:t>
            </a:r>
            <a:r>
              <a:rPr lang="en-US" dirty="0"/>
              <a:t> </a:t>
            </a:r>
            <a:r>
              <a:rPr lang="en-US" dirty="0" err="1"/>
              <a:t>קטנים</a:t>
            </a:r>
            <a:r>
              <a:rPr lang="en-US" dirty="0"/>
              <a:t> </a:t>
            </a:r>
            <a:r>
              <a:rPr lang="en-US" dirty="0" err="1"/>
              <a:t>בצורה</a:t>
            </a:r>
            <a:r>
              <a:rPr lang="en-US" dirty="0"/>
              <a:t> </a:t>
            </a:r>
            <a:r>
              <a:rPr lang="en-US" dirty="0" err="1"/>
              <a:t>אחידה</a:t>
            </a:r>
            <a:r>
              <a:rPr lang="en-US" dirty="0"/>
              <a:t> </a:t>
            </a:r>
            <a:r>
              <a:rPr lang="en-US" dirty="0" err="1"/>
              <a:t>וזהה</a:t>
            </a:r>
            <a:r>
              <a:rPr lang="en-US" dirty="0"/>
              <a:t> </a:t>
            </a:r>
            <a:r>
              <a:rPr lang="en-US" dirty="0" err="1"/>
              <a:t>לכולם</a:t>
            </a:r>
            <a:r>
              <a:rPr lang="en-US" dirty="0"/>
              <a:t>.</a:t>
            </a:r>
          </a:p>
          <a:p>
            <a:pPr algn="r" rtl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מה </a:t>
            </a:r>
            <a:r>
              <a:rPr lang="en-US" dirty="0" err="1"/>
              <a:t>נחשבת</a:t>
            </a:r>
            <a:r>
              <a:rPr lang="en-US" dirty="0"/>
              <a:t> </a:t>
            </a:r>
            <a:r>
              <a:rPr lang="en-US" dirty="0" err="1"/>
              <a:t>לתכנית</a:t>
            </a:r>
            <a:r>
              <a:rPr lang="en-US" dirty="0"/>
              <a:t> </a:t>
            </a:r>
            <a:r>
              <a:rPr lang="en-US" dirty="0" err="1"/>
              <a:t>הטובה</a:t>
            </a:r>
            <a:r>
              <a:rPr lang="en-US" dirty="0"/>
              <a:t> </a:t>
            </a:r>
            <a:r>
              <a:rPr lang="en-US" dirty="0" err="1"/>
              <a:t>ביותר</a:t>
            </a:r>
            <a:r>
              <a:rPr lang="en-US" dirty="0"/>
              <a:t> </a:t>
            </a:r>
            <a:r>
              <a:rPr lang="en-US" dirty="0" err="1"/>
              <a:t>להשגת</a:t>
            </a:r>
            <a:r>
              <a:rPr lang="en-US" dirty="0"/>
              <a:t> Goal? </a:t>
            </a:r>
          </a:p>
          <a:p>
            <a:pPr algn="r" rtl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b="1" dirty="0" err="1"/>
              <a:t>אם</a:t>
            </a:r>
            <a:r>
              <a:rPr lang="en-US" b="1" dirty="0"/>
              <a:t> </a:t>
            </a:r>
            <a:r>
              <a:rPr lang="en-US" b="1" dirty="0" err="1"/>
              <a:t>הזמן</a:t>
            </a:r>
            <a:r>
              <a:rPr lang="en-US" b="1" dirty="0"/>
              <a:t> </a:t>
            </a:r>
            <a:r>
              <a:rPr lang="en-US" b="1" dirty="0" err="1"/>
              <a:t>שלוקח</a:t>
            </a:r>
            <a:r>
              <a:rPr lang="en-US" b="1" dirty="0"/>
              <a:t> </a:t>
            </a:r>
            <a:r>
              <a:rPr lang="en-US" b="1" dirty="0" err="1"/>
              <a:t>לבצע</a:t>
            </a:r>
            <a:r>
              <a:rPr lang="en-US" b="1" dirty="0"/>
              <a:t> </a:t>
            </a:r>
            <a:r>
              <a:rPr lang="en-US" b="1" dirty="0" err="1"/>
              <a:t>אותה</a:t>
            </a:r>
            <a:r>
              <a:rPr lang="en-US" b="1" dirty="0"/>
              <a:t> </a:t>
            </a:r>
            <a:r>
              <a:rPr lang="en-US" b="1" dirty="0" err="1"/>
              <a:t>מינימלי</a:t>
            </a:r>
            <a:r>
              <a:rPr lang="en-US" b="1" dirty="0"/>
              <a:t>, </a:t>
            </a:r>
            <a:r>
              <a:rPr lang="en-US" b="1" dirty="0" err="1"/>
              <a:t>הכי</a:t>
            </a:r>
            <a:r>
              <a:rPr lang="en-US" b="1" dirty="0"/>
              <a:t> </a:t>
            </a:r>
            <a:r>
              <a:rPr lang="en-US" b="1" dirty="0" err="1"/>
              <a:t>מועדפת</a:t>
            </a:r>
            <a:r>
              <a:rPr lang="en-US" b="1" dirty="0"/>
              <a:t> </a:t>
            </a:r>
            <a:r>
              <a:rPr lang="en-US" b="1" dirty="0" err="1"/>
              <a:t>על</a:t>
            </a:r>
            <a:r>
              <a:rPr lang="en-US" b="1" dirty="0"/>
              <a:t> </a:t>
            </a:r>
            <a:r>
              <a:rPr lang="en-US" b="1" dirty="0" err="1"/>
              <a:t>ידי</a:t>
            </a:r>
            <a:r>
              <a:rPr lang="en-US" b="1" dirty="0"/>
              <a:t> </a:t>
            </a:r>
            <a:r>
              <a:rPr lang="en-US" b="1" dirty="0" err="1"/>
              <a:t>הסוכן</a:t>
            </a:r>
            <a:r>
              <a:rPr lang="en-US" b="1" dirty="0"/>
              <a:t> (</a:t>
            </a:r>
            <a:r>
              <a:rPr lang="en-US" b="1" dirty="0" err="1"/>
              <a:t>הmultiplier</a:t>
            </a:r>
            <a:r>
              <a:rPr lang="en-US" b="1" dirty="0"/>
              <a:t> </a:t>
            </a:r>
            <a:r>
              <a:rPr lang="en-US" b="1" dirty="0" err="1"/>
              <a:t>מקטין</a:t>
            </a:r>
            <a:r>
              <a:rPr lang="en-US" b="1" dirty="0"/>
              <a:t>)</a:t>
            </a:r>
          </a:p>
          <a:p>
            <a:pPr algn="r" rtl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b="1" dirty="0"/>
              <a:t> </a:t>
            </a:r>
            <a:r>
              <a:rPr lang="en-US" b="1" dirty="0" err="1"/>
              <a:t>והדחיפות</a:t>
            </a:r>
            <a:r>
              <a:rPr lang="en-US" b="1" dirty="0"/>
              <a:t> </a:t>
            </a:r>
            <a:r>
              <a:rPr lang="en-US" b="1" dirty="0" err="1"/>
              <a:t>לבצע</a:t>
            </a:r>
            <a:r>
              <a:rPr lang="en-US" b="1" dirty="0"/>
              <a:t> </a:t>
            </a:r>
            <a:r>
              <a:rPr lang="en-US" b="1" dirty="0" err="1"/>
              <a:t>אותה</a:t>
            </a:r>
            <a:r>
              <a:rPr lang="en-US" b="1" dirty="0"/>
              <a:t> </a:t>
            </a:r>
            <a:r>
              <a:rPr lang="en-US" b="1" dirty="0" err="1"/>
              <a:t>מקסימלי</a:t>
            </a:r>
            <a:r>
              <a:rPr lang="en-US" b="1" dirty="0"/>
              <a:t>.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4D3089B-6637-4454-B347-4C213F760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786862"/>
            <a:ext cx="10018713" cy="1752599"/>
          </a:xfrm>
        </p:spPr>
        <p:txBody>
          <a:bodyPr/>
          <a:lstStyle/>
          <a:p>
            <a:pPr algn="ctr" rtl="1"/>
            <a:r>
              <a:rPr lang="en-US" sz="2800" b="1" dirty="0"/>
              <a:t>score = (</a:t>
            </a:r>
            <a:r>
              <a:rPr lang="en-US" sz="2800" b="1" dirty="0" err="1"/>
              <a:t>costWeight</a:t>
            </a:r>
            <a:r>
              <a:rPr lang="en-US" sz="2800" b="1" dirty="0"/>
              <a:t> × </a:t>
            </a:r>
            <a:r>
              <a:rPr lang="en-US" sz="2800" b="1" dirty="0" err="1"/>
              <a:t>planCost</a:t>
            </a:r>
            <a:r>
              <a:rPr lang="en-US" sz="2800" b="1" dirty="0"/>
              <a:t> × preference) / urgency</a:t>
            </a:r>
          </a:p>
          <a:p>
            <a:pPr algn="r" rtl="1"/>
            <a:endParaRPr lang="en-IL" dirty="0"/>
          </a:p>
        </p:txBody>
      </p:sp>
      <p:pic>
        <p:nvPicPr>
          <p:cNvPr id="18" name="תמונה 17" descr="תמונה שמכילה טקסט, תוכנה, תכונות מולטימדיה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0E4483-56A4-CD3C-C4A9-090AAFF44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1" y="1783329"/>
            <a:ext cx="7954485" cy="1428949"/>
          </a:xfrm>
          <a:prstGeom prst="rect">
            <a:avLst/>
          </a:prstGeom>
        </p:spPr>
      </p:pic>
      <p:sp>
        <p:nvSpPr>
          <p:cNvPr id="20" name="סימן כפל 19">
            <a:extLst>
              <a:ext uri="{FF2B5EF4-FFF2-40B4-BE49-F238E27FC236}">
                <a16:creationId xmlns:a16="http://schemas.microsoft.com/office/drawing/2014/main" id="{F14B21F1-0499-0F5C-27B4-3251901E7304}"/>
              </a:ext>
            </a:extLst>
          </p:cNvPr>
          <p:cNvSpPr/>
          <p:nvPr/>
        </p:nvSpPr>
        <p:spPr>
          <a:xfrm>
            <a:off x="4092053" y="1110512"/>
            <a:ext cx="1715679" cy="64024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17374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he-IL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8667A27E-A18D-C6A9-2787-B9F6279F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417043"/>
            <a:ext cx="8174971" cy="81579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 rtl="1"/>
            <a:r>
              <a:rPr lang="en-US" sz="6200" dirty="0" err="1"/>
              <a:t>וכדי</a:t>
            </a:r>
            <a:r>
              <a:rPr lang="en-US" sz="6200" dirty="0"/>
              <a:t> </a:t>
            </a:r>
            <a:r>
              <a:rPr lang="en-US" sz="6200" dirty="0" err="1"/>
              <a:t>לסגור</a:t>
            </a:r>
            <a:r>
              <a:rPr lang="en-US" sz="6200" dirty="0"/>
              <a:t> </a:t>
            </a:r>
            <a:r>
              <a:rPr lang="en-US" sz="6200" dirty="0" err="1"/>
              <a:t>הכל</a:t>
            </a:r>
            <a:r>
              <a:rPr lang="en-US" sz="6200" dirty="0"/>
              <a:t> </a:t>
            </a:r>
            <a:r>
              <a:rPr lang="en-US" sz="6200" dirty="0" err="1"/>
              <a:t>ביחד</a:t>
            </a:r>
            <a:r>
              <a:rPr lang="en-US" sz="6200" dirty="0"/>
              <a:t>.. 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2DCAEB7-C5AB-EA59-FE2F-EBF506E666D9}"/>
              </a:ext>
            </a:extLst>
          </p:cNvPr>
          <p:cNvSpPr/>
          <p:nvPr/>
        </p:nvSpPr>
        <p:spPr>
          <a:xfrm>
            <a:off x="1286669" y="1232834"/>
            <a:ext cx="4829175" cy="897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dirty="0"/>
              <a:t>כל סוכן מבצע </a:t>
            </a:r>
            <a:r>
              <a:rPr lang="en-US" b="1" dirty="0" err="1"/>
              <a:t>WorldState</a:t>
            </a:r>
            <a:r>
              <a:rPr lang="en-US" b="1" dirty="0"/>
              <a:t> Snapshot</a:t>
            </a:r>
            <a:r>
              <a:rPr lang="en-US" dirty="0"/>
              <a:t> </a:t>
            </a:r>
            <a:r>
              <a:rPr lang="he-IL" dirty="0"/>
              <a:t> בקצב קבוע</a:t>
            </a:r>
            <a:br>
              <a:rPr lang="he-IL" dirty="0"/>
            </a:br>
            <a:r>
              <a:rPr lang="he-IL" i="1" dirty="0"/>
              <a:t>(אצלנו: כל ~0.3 שניות)</a:t>
            </a:r>
            <a:r>
              <a:rPr lang="he-IL" dirty="0"/>
              <a:t>.</a:t>
            </a:r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1E79D52F-BDB8-1AF4-6AB7-8606D998F41F}"/>
              </a:ext>
            </a:extLst>
          </p:cNvPr>
          <p:cNvSpPr/>
          <p:nvPr/>
        </p:nvSpPr>
        <p:spPr>
          <a:xfrm>
            <a:off x="946153" y="2374584"/>
            <a:ext cx="5734050" cy="11125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dirty="0"/>
              <a:t>בכל </a:t>
            </a:r>
            <a:r>
              <a:rPr lang="en-US" dirty="0"/>
              <a:t>Snapshot</a:t>
            </a:r>
          </a:p>
          <a:p>
            <a:pPr lvl="1" algn="ctr" rtl="1"/>
            <a:r>
              <a:rPr lang="he-IL" dirty="0"/>
              <a:t>מחושבת </a:t>
            </a:r>
            <a:r>
              <a:rPr lang="he-IL" b="1" dirty="0"/>
              <a:t>עלות</a:t>
            </a:r>
            <a:r>
              <a:rPr lang="he-IL" dirty="0"/>
              <a:t>, </a:t>
            </a:r>
            <a:r>
              <a:rPr lang="he-IL" b="1" dirty="0"/>
              <a:t>דחיפות</a:t>
            </a:r>
            <a:r>
              <a:rPr lang="he-IL" dirty="0"/>
              <a:t> לכל </a:t>
            </a:r>
            <a:r>
              <a:rPr lang="en-US" dirty="0"/>
              <a:t>Goal</a:t>
            </a:r>
            <a:r>
              <a:rPr lang="he-IL" dirty="0"/>
              <a:t>, והעדפה אישית של הסוכן</a:t>
            </a:r>
          </a:p>
          <a:p>
            <a:pPr algn="ctr"/>
            <a:endParaRPr lang="he-IL"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93662C9D-B5AB-CD38-45ED-5E0C46F490A4}"/>
              </a:ext>
            </a:extLst>
          </p:cNvPr>
          <p:cNvSpPr/>
          <p:nvPr/>
        </p:nvSpPr>
        <p:spPr>
          <a:xfrm>
            <a:off x="1286668" y="4852873"/>
            <a:ext cx="4829175" cy="810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he-IL" dirty="0"/>
              <a:t>הסוכן בוחר את </a:t>
            </a:r>
            <a:r>
              <a:rPr lang="he-IL" dirty="0" err="1"/>
              <a:t>התכנית</a:t>
            </a:r>
            <a:r>
              <a:rPr lang="he-IL" dirty="0"/>
              <a:t> עם ה־</a:t>
            </a:r>
            <a:r>
              <a:rPr lang="en-US" b="1" dirty="0"/>
              <a:t>Score </a:t>
            </a:r>
            <a:r>
              <a:rPr lang="he-IL" b="1" dirty="0"/>
              <a:t>הנמוך ביותר</a:t>
            </a:r>
            <a:r>
              <a:rPr lang="he-IL" dirty="0"/>
              <a:t>.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9EE9C377-23F0-8F9E-8DA5-CDD392C4769F}"/>
              </a:ext>
            </a:extLst>
          </p:cNvPr>
          <p:cNvSpPr/>
          <p:nvPr/>
        </p:nvSpPr>
        <p:spPr>
          <a:xfrm>
            <a:off x="1286669" y="5967891"/>
            <a:ext cx="4829175" cy="810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he-IL" dirty="0"/>
              <a:t>אם העולם משתנה או נמצאה תכנית טובה יותר</a:t>
            </a:r>
            <a:br>
              <a:rPr lang="he-IL" dirty="0"/>
            </a:br>
            <a:r>
              <a:rPr lang="he-IL" dirty="0"/>
              <a:t>מתבצע </a:t>
            </a:r>
            <a:r>
              <a:rPr lang="en-US" b="1" dirty="0"/>
              <a:t>Replan</a:t>
            </a:r>
            <a:endParaRPr lang="en-US" dirty="0"/>
          </a:p>
        </p:txBody>
      </p:sp>
      <p:sp>
        <p:nvSpPr>
          <p:cNvPr id="31" name="חץ: למטה 30">
            <a:extLst>
              <a:ext uri="{FF2B5EF4-FFF2-40B4-BE49-F238E27FC236}">
                <a16:creationId xmlns:a16="http://schemas.microsoft.com/office/drawing/2014/main" id="{D12AA59B-255B-DAB2-9F3C-54DC0EB1683B}"/>
              </a:ext>
            </a:extLst>
          </p:cNvPr>
          <p:cNvSpPr/>
          <p:nvPr/>
        </p:nvSpPr>
        <p:spPr>
          <a:xfrm>
            <a:off x="2438878" y="2015707"/>
            <a:ext cx="254524" cy="6033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חץ: למטה 31">
            <a:extLst>
              <a:ext uri="{FF2B5EF4-FFF2-40B4-BE49-F238E27FC236}">
                <a16:creationId xmlns:a16="http://schemas.microsoft.com/office/drawing/2014/main" id="{EB1E3181-18C2-31AE-F011-4E363CBBFBB2}"/>
              </a:ext>
            </a:extLst>
          </p:cNvPr>
          <p:cNvSpPr/>
          <p:nvPr/>
        </p:nvSpPr>
        <p:spPr>
          <a:xfrm>
            <a:off x="2438878" y="3185519"/>
            <a:ext cx="254524" cy="6033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חץ: למטה 32">
            <a:extLst>
              <a:ext uri="{FF2B5EF4-FFF2-40B4-BE49-F238E27FC236}">
                <a16:creationId xmlns:a16="http://schemas.microsoft.com/office/drawing/2014/main" id="{E10D1C86-0735-0811-14A3-A07EDA986451}"/>
              </a:ext>
            </a:extLst>
          </p:cNvPr>
          <p:cNvSpPr/>
          <p:nvPr/>
        </p:nvSpPr>
        <p:spPr>
          <a:xfrm>
            <a:off x="2438878" y="5513833"/>
            <a:ext cx="254524" cy="6033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0A84479F-93E8-6A90-08D9-FFBC7670CD09}"/>
              </a:ext>
            </a:extLst>
          </p:cNvPr>
          <p:cNvSpPr/>
          <p:nvPr/>
        </p:nvSpPr>
        <p:spPr>
          <a:xfrm>
            <a:off x="1286668" y="3800994"/>
            <a:ext cx="4829175" cy="8102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1" algn="ctr" rtl="1"/>
            <a:r>
              <a:rPr lang="he-IL" dirty="0"/>
              <a:t>נבנית </a:t>
            </a:r>
            <a:r>
              <a:rPr lang="he-IL" b="1" dirty="0"/>
              <a:t>תכנית נפרדת</a:t>
            </a:r>
            <a:r>
              <a:rPr lang="he-IL" dirty="0"/>
              <a:t> לכל צורך ע״י ה־</a:t>
            </a:r>
            <a:r>
              <a:rPr lang="en-US" dirty="0"/>
              <a:t>Planner</a:t>
            </a:r>
          </a:p>
          <a:p>
            <a:pPr lvl="1" algn="ctr" rtl="1"/>
            <a:r>
              <a:rPr lang="he-IL" dirty="0"/>
              <a:t>מחושב </a:t>
            </a:r>
            <a:r>
              <a:rPr lang="en-US" dirty="0"/>
              <a:t> </a:t>
            </a:r>
            <a:r>
              <a:rPr lang="en-US" b="1" dirty="0"/>
              <a:t>Score</a:t>
            </a:r>
            <a:r>
              <a:rPr lang="en-US" dirty="0"/>
              <a:t> </a:t>
            </a:r>
            <a:r>
              <a:rPr lang="he-IL" dirty="0"/>
              <a:t>לכל תכנית</a:t>
            </a:r>
          </a:p>
        </p:txBody>
      </p:sp>
      <p:sp>
        <p:nvSpPr>
          <p:cNvPr id="35" name="חץ: למטה 34">
            <a:extLst>
              <a:ext uri="{FF2B5EF4-FFF2-40B4-BE49-F238E27FC236}">
                <a16:creationId xmlns:a16="http://schemas.microsoft.com/office/drawing/2014/main" id="{D618DFBF-CBD9-01A4-50FA-5E0A49EDC4E5}"/>
              </a:ext>
            </a:extLst>
          </p:cNvPr>
          <p:cNvSpPr/>
          <p:nvPr/>
        </p:nvSpPr>
        <p:spPr>
          <a:xfrm>
            <a:off x="2419239" y="4461954"/>
            <a:ext cx="254524" cy="6033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7073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136A7F-8703-4FA7-80B1-874F5E75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16B2278-BFC9-43BE-9620-278464A4A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0"/>
            <a:ext cx="1122363" cy="5329238"/>
          </a:xfrm>
          <a:custGeom>
            <a:avLst/>
            <a:gdLst/>
            <a:ahLst/>
            <a:cxnLst/>
            <a:rect l="0" t="0" r="r" b="b"/>
            <a:pathLst>
              <a:path w="707" h="3357">
                <a:moveTo>
                  <a:pt x="0" y="3330"/>
                </a:moveTo>
                <a:lnTo>
                  <a:pt x="156" y="3357"/>
                </a:lnTo>
                <a:lnTo>
                  <a:pt x="707" y="0"/>
                </a:lnTo>
                <a:lnTo>
                  <a:pt x="547" y="0"/>
                </a:lnTo>
                <a:lnTo>
                  <a:pt x="0" y="3330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4CD00E4-F77A-49A5-A54B-A542D0DE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0"/>
            <a:ext cx="1117600" cy="5276850"/>
          </a:xfrm>
          <a:custGeom>
            <a:avLst/>
            <a:gdLst/>
            <a:ahLst/>
            <a:cxnLst/>
            <a:rect l="0" t="0" r="r" b="b"/>
            <a:pathLst>
              <a:path w="704" h="3324">
                <a:moveTo>
                  <a:pt x="704" y="0"/>
                </a:moveTo>
                <a:lnTo>
                  <a:pt x="545" y="0"/>
                </a:lnTo>
                <a:lnTo>
                  <a:pt x="0" y="3300"/>
                </a:lnTo>
                <a:lnTo>
                  <a:pt x="157" y="3324"/>
                </a:lnTo>
                <a:lnTo>
                  <a:pt x="7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7158038-9069-44CB-8794-762B5429B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382913" y="5286375"/>
            <a:ext cx="2130425" cy="1571625"/>
          </a:xfrm>
          <a:custGeom>
            <a:avLst/>
            <a:gdLst/>
            <a:ahLst/>
            <a:cxnLst/>
            <a:rect l="0" t="0" r="r" b="b"/>
            <a:pathLst>
              <a:path w="1342" h="990">
                <a:moveTo>
                  <a:pt x="0" y="3"/>
                </a:moveTo>
                <a:lnTo>
                  <a:pt x="942" y="990"/>
                </a:lnTo>
                <a:lnTo>
                  <a:pt x="1342" y="990"/>
                </a:lnTo>
                <a:lnTo>
                  <a:pt x="156" y="27"/>
                </a:lnTo>
                <a:lnTo>
                  <a:pt x="0" y="0"/>
                </a:lnTo>
                <a:lnTo>
                  <a:pt x="0" y="3"/>
                </a:lnTo>
                <a:close/>
              </a:path>
            </a:pathLst>
          </a:custGeom>
          <a:solidFill>
            <a:schemeClr val="tx2">
              <a:lumMod val="2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5056AB-07D8-43D9-9343-AB85199AE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76525" y="5238750"/>
            <a:ext cx="1695450" cy="1619250"/>
          </a:xfrm>
          <a:custGeom>
            <a:avLst/>
            <a:gdLst>
              <a:gd name="connsiteX0" fmla="*/ 0 w 1695450"/>
              <a:gd name="connsiteY0" fmla="*/ 0 h 1619250"/>
              <a:gd name="connsiteX1" fmla="*/ 10414 w 1695450"/>
              <a:gd name="connsiteY1" fmla="*/ 1623 h 1619250"/>
              <a:gd name="connsiteX2" fmla="*/ 9236 w 1695450"/>
              <a:gd name="connsiteY2" fmla="*/ 0 h 1619250"/>
              <a:gd name="connsiteX3" fmla="*/ 10475 w 1695450"/>
              <a:gd name="connsiteY3" fmla="*/ 1633 h 1619250"/>
              <a:gd name="connsiteX4" fmla="*/ 244475 w 1695450"/>
              <a:gd name="connsiteY4" fmla="*/ 38100 h 1619250"/>
              <a:gd name="connsiteX5" fmla="*/ 249238 w 1695450"/>
              <a:gd name="connsiteY5" fmla="*/ 38100 h 1619250"/>
              <a:gd name="connsiteX6" fmla="*/ 249238 w 1695450"/>
              <a:gd name="connsiteY6" fmla="*/ 42863 h 1619250"/>
              <a:gd name="connsiteX7" fmla="*/ 244475 w 1695450"/>
              <a:gd name="connsiteY7" fmla="*/ 42863 h 1619250"/>
              <a:gd name="connsiteX8" fmla="*/ 292100 w 1695450"/>
              <a:gd name="connsiteY8" fmla="*/ 95250 h 1619250"/>
              <a:gd name="connsiteX9" fmla="*/ 1695450 w 1695450"/>
              <a:gd name="connsiteY9" fmla="*/ 1619250 h 1619250"/>
              <a:gd name="connsiteX10" fmla="*/ 1237961 w 1695450"/>
              <a:gd name="connsiteY10" fmla="*/ 1619250 h 1619250"/>
              <a:gd name="connsiteX11" fmla="*/ 1228725 w 1695450"/>
              <a:gd name="connsiteY11" fmla="*/ 1619250 h 1619250"/>
              <a:gd name="connsiteX12" fmla="*/ 1183986 w 1695450"/>
              <a:gd name="connsiteY12" fmla="*/ 1619250 h 1619250"/>
              <a:gd name="connsiteX13" fmla="*/ 210255 w 1695450"/>
              <a:gd name="connsiteY13" fmla="*/ 277080 h 161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95450" h="1619250">
                <a:moveTo>
                  <a:pt x="0" y="0"/>
                </a:moveTo>
                <a:lnTo>
                  <a:pt x="10414" y="1623"/>
                </a:lnTo>
                <a:lnTo>
                  <a:pt x="9236" y="0"/>
                </a:lnTo>
                <a:lnTo>
                  <a:pt x="10475" y="1633"/>
                </a:lnTo>
                <a:lnTo>
                  <a:pt x="244475" y="38100"/>
                </a:lnTo>
                <a:lnTo>
                  <a:pt x="249238" y="38100"/>
                </a:lnTo>
                <a:lnTo>
                  <a:pt x="249238" y="42863"/>
                </a:lnTo>
                <a:lnTo>
                  <a:pt x="244475" y="42863"/>
                </a:lnTo>
                <a:lnTo>
                  <a:pt x="292100" y="95250"/>
                </a:lnTo>
                <a:lnTo>
                  <a:pt x="1695450" y="1619250"/>
                </a:lnTo>
                <a:lnTo>
                  <a:pt x="1237961" y="1619250"/>
                </a:lnTo>
                <a:lnTo>
                  <a:pt x="1228725" y="1619250"/>
                </a:lnTo>
                <a:lnTo>
                  <a:pt x="1183986" y="1619250"/>
                </a:lnTo>
                <a:lnTo>
                  <a:pt x="210255" y="277080"/>
                </a:ln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9B4FD-25D8-4640-85E3-515C1F581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910" y="1023257"/>
            <a:ext cx="3235083" cy="4767943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dirty="0"/>
              <a:t>Why GOAP?</a:t>
            </a:r>
            <a:endParaRPr lang="en-IL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3D8662-D21C-4B0A-A8A5-EA1E5DEBC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43384" cy="6858001"/>
          </a:xfrm>
          <a:custGeom>
            <a:avLst/>
            <a:gdLst>
              <a:gd name="connsiteX0" fmla="*/ 0 w 8143384"/>
              <a:gd name="connsiteY0" fmla="*/ 0 h 6858001"/>
              <a:gd name="connsiteX1" fmla="*/ 3861881 w 8143384"/>
              <a:gd name="connsiteY1" fmla="*/ 0 h 6858001"/>
              <a:gd name="connsiteX2" fmla="*/ 3861881 w 8143384"/>
              <a:gd name="connsiteY2" fmla="*/ 1 h 6858001"/>
              <a:gd name="connsiteX3" fmla="*/ 6963565 w 8143384"/>
              <a:gd name="connsiteY3" fmla="*/ 1 h 6858001"/>
              <a:gd name="connsiteX4" fmla="*/ 6963565 w 8143384"/>
              <a:gd name="connsiteY4" fmla="*/ 0 h 6858001"/>
              <a:gd name="connsiteX5" fmla="*/ 7841583 w 8143384"/>
              <a:gd name="connsiteY5" fmla="*/ 0 h 6858001"/>
              <a:gd name="connsiteX6" fmla="*/ 6994625 w 8143384"/>
              <a:gd name="connsiteY6" fmla="*/ 5258645 h 6858001"/>
              <a:gd name="connsiteX7" fmla="*/ 6994625 w 8143384"/>
              <a:gd name="connsiteY7" fmla="*/ 5263939 h 6858001"/>
              <a:gd name="connsiteX8" fmla="*/ 8143384 w 8143384"/>
              <a:gd name="connsiteY8" fmla="*/ 6858001 h 6858001"/>
              <a:gd name="connsiteX9" fmla="*/ 6994625 w 8143384"/>
              <a:gd name="connsiteY9" fmla="*/ 6858001 h 6858001"/>
              <a:gd name="connsiteX10" fmla="*/ 6643195 w 8143384"/>
              <a:gd name="connsiteY10" fmla="*/ 6858001 h 6858001"/>
              <a:gd name="connsiteX11" fmla="*/ 3861881 w 8143384"/>
              <a:gd name="connsiteY11" fmla="*/ 6858001 h 6858001"/>
              <a:gd name="connsiteX12" fmla="*/ 3739675 w 8143384"/>
              <a:gd name="connsiteY12" fmla="*/ 6858001 h 6858001"/>
              <a:gd name="connsiteX13" fmla="*/ 0 w 8143384"/>
              <a:gd name="connsiteY1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43384" h="6858001">
                <a:moveTo>
                  <a:pt x="0" y="0"/>
                </a:moveTo>
                <a:lnTo>
                  <a:pt x="3861881" y="0"/>
                </a:lnTo>
                <a:lnTo>
                  <a:pt x="3861881" y="1"/>
                </a:lnTo>
                <a:lnTo>
                  <a:pt x="6963565" y="1"/>
                </a:lnTo>
                <a:lnTo>
                  <a:pt x="6963565" y="0"/>
                </a:lnTo>
                <a:lnTo>
                  <a:pt x="7841583" y="0"/>
                </a:lnTo>
                <a:lnTo>
                  <a:pt x="6994625" y="5258645"/>
                </a:lnTo>
                <a:lnTo>
                  <a:pt x="6994625" y="5263939"/>
                </a:lnTo>
                <a:lnTo>
                  <a:pt x="8143384" y="6858001"/>
                </a:lnTo>
                <a:lnTo>
                  <a:pt x="6994625" y="6858001"/>
                </a:lnTo>
                <a:lnTo>
                  <a:pt x="6643195" y="6858001"/>
                </a:lnTo>
                <a:lnTo>
                  <a:pt x="3861881" y="6858001"/>
                </a:lnTo>
                <a:lnTo>
                  <a:pt x="373967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lumOff val="2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9A4B6-64A2-45BD-BBC2-D9F573AD2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35" y="1023257"/>
            <a:ext cx="5968515" cy="4767944"/>
          </a:xfrm>
        </p:spPr>
        <p:txBody>
          <a:bodyPr anchor="ctr">
            <a:normAutofit/>
          </a:bodyPr>
          <a:lstStyle/>
          <a:p>
            <a:pPr algn="r" rtl="1">
              <a:lnSpc>
                <a:spcPct val="90000"/>
              </a:lnSpc>
            </a:pPr>
            <a:r>
              <a:rPr lang="he-IL" sz="1900" b="1" dirty="0"/>
              <a:t>למה צריך </a:t>
            </a:r>
            <a:r>
              <a:rPr lang="en-US" sz="1900" b="1" dirty="0"/>
              <a:t>GOAP?</a:t>
            </a:r>
            <a:endParaRPr lang="en-US" sz="1900" dirty="0"/>
          </a:p>
          <a:p>
            <a:pPr lvl="1" algn="r" rtl="1">
              <a:lnSpc>
                <a:spcPct val="90000"/>
              </a:lnSpc>
            </a:pPr>
            <a:r>
              <a:rPr lang="he-IL" sz="1900" dirty="0"/>
              <a:t>הסטנדרט ל־</a:t>
            </a:r>
            <a:r>
              <a:rPr lang="en-US" sz="1900" dirty="0"/>
              <a:t> AI </a:t>
            </a:r>
            <a:r>
              <a:rPr lang="he-IL" sz="1900" dirty="0"/>
              <a:t>במשחקים עולה כל הזמן</a:t>
            </a:r>
          </a:p>
          <a:p>
            <a:pPr lvl="1" algn="r" rtl="1">
              <a:lnSpc>
                <a:spcPct val="90000"/>
              </a:lnSpc>
            </a:pPr>
            <a:r>
              <a:rPr lang="he-IL" sz="1900" dirty="0"/>
              <a:t>התנהגות מורכבת עם סקריפטים/</a:t>
            </a:r>
            <a:r>
              <a:rPr lang="en-US" sz="1900" dirty="0"/>
              <a:t>FSM </a:t>
            </a:r>
            <a:r>
              <a:rPr lang="he-IL" sz="1900" dirty="0"/>
              <a:t> נהיית קשה לתחזוקה</a:t>
            </a:r>
          </a:p>
          <a:p>
            <a:pPr lvl="1" algn="r" rtl="1">
              <a:lnSpc>
                <a:spcPct val="90000"/>
              </a:lnSpc>
            </a:pPr>
            <a:r>
              <a:rPr lang="he-IL" sz="1900" dirty="0"/>
              <a:t>צריך מערכת החלטות:</a:t>
            </a:r>
          </a:p>
          <a:p>
            <a:pPr lvl="2" algn="r" rtl="1">
              <a:lnSpc>
                <a:spcPct val="90000"/>
              </a:lnSpc>
            </a:pPr>
            <a:r>
              <a:rPr lang="en-US" sz="1900" b="1" dirty="0"/>
              <a:t>) Scalable</a:t>
            </a:r>
            <a:r>
              <a:rPr lang="en-US" sz="1900" dirty="0"/>
              <a:t> </a:t>
            </a:r>
            <a:r>
              <a:rPr lang="he-IL" sz="1900" dirty="0"/>
              <a:t>מתרחבת בלי להתפוצץ)</a:t>
            </a:r>
          </a:p>
          <a:p>
            <a:pPr lvl="2" algn="r" rtl="1">
              <a:lnSpc>
                <a:spcPct val="90000"/>
              </a:lnSpc>
            </a:pPr>
            <a:r>
              <a:rPr lang="en-US" sz="1900" b="1" dirty="0"/>
              <a:t>Maintainable</a:t>
            </a:r>
            <a:r>
              <a:rPr lang="he-IL" sz="1900" dirty="0"/>
              <a:t> (קל לשנות)</a:t>
            </a:r>
          </a:p>
          <a:p>
            <a:pPr lvl="2" algn="r" rtl="1">
              <a:lnSpc>
                <a:spcPct val="90000"/>
              </a:lnSpc>
            </a:pPr>
            <a:r>
              <a:rPr lang="en-US" sz="1900" b="1" dirty="0"/>
              <a:t>Reusable</a:t>
            </a:r>
            <a:r>
              <a:rPr lang="he-IL" sz="1900" b="1" dirty="0"/>
              <a:t> (</a:t>
            </a:r>
            <a:r>
              <a:rPr lang="he-IL" sz="1900" dirty="0"/>
              <a:t>אפשר למחזר בין דמויות/פרויקטים)</a:t>
            </a:r>
          </a:p>
          <a:p>
            <a:pPr algn="r" rtl="1">
              <a:lnSpc>
                <a:spcPct val="90000"/>
              </a:lnSpc>
            </a:pPr>
            <a:r>
              <a:rPr lang="en-US" sz="1900" b="1" dirty="0"/>
              <a:t> GOAP </a:t>
            </a:r>
            <a:r>
              <a:rPr lang="he-IL" sz="1900" b="1" dirty="0"/>
              <a:t>נותן:</a:t>
            </a:r>
            <a:endParaRPr lang="he-IL" sz="1900" dirty="0"/>
          </a:p>
          <a:p>
            <a:pPr lvl="1" algn="r" rtl="1">
              <a:lnSpc>
                <a:spcPct val="90000"/>
              </a:lnSpc>
            </a:pPr>
            <a:r>
              <a:rPr lang="he-IL" sz="1900" dirty="0"/>
              <a:t>תכנון בזמן אמת</a:t>
            </a:r>
            <a:r>
              <a:rPr lang="en-US" sz="1900" dirty="0"/>
              <a:t>.</a:t>
            </a:r>
          </a:p>
          <a:p>
            <a:pPr lvl="1" algn="r" rtl="1">
              <a:lnSpc>
                <a:spcPct val="90000"/>
              </a:lnSpc>
            </a:pPr>
            <a:r>
              <a:rPr lang="he-IL" sz="1900" dirty="0"/>
              <a:t>יותר גמישות ופחות התנהגות חוזרת</a:t>
            </a:r>
          </a:p>
          <a:p>
            <a:pPr lvl="1" algn="r" rtl="1">
              <a:lnSpc>
                <a:spcPct val="90000"/>
              </a:lnSpc>
            </a:pPr>
            <a:r>
              <a:rPr lang="he-IL" sz="1900" dirty="0"/>
              <a:t>“מעבירים את ההחלטות לדמות” במקום לקוד קשיח</a:t>
            </a:r>
          </a:p>
          <a:p>
            <a:pPr algn="r">
              <a:lnSpc>
                <a:spcPct val="90000"/>
              </a:lnSpc>
            </a:pPr>
            <a:endParaRPr lang="en-IL" sz="1900" dirty="0"/>
          </a:p>
        </p:txBody>
      </p:sp>
    </p:spTree>
    <p:extLst>
      <p:ext uri="{BB962C8B-B14F-4D97-AF65-F5344CB8AC3E}">
        <p14:creationId xmlns:p14="http://schemas.microsoft.com/office/powerpoint/2010/main" val="3391862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1903</Words>
  <Application>Microsoft Office PowerPoint</Application>
  <PresentationFormat>מסך רחב</PresentationFormat>
  <Paragraphs>174</Paragraphs>
  <Slides>17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2" baseType="lpstr">
      <vt:lpstr>Arial</vt:lpstr>
      <vt:lpstr>Calibri</vt:lpstr>
      <vt:lpstr>Corbel</vt:lpstr>
      <vt:lpstr>Tahoma</vt:lpstr>
      <vt:lpstr>Parallax</vt:lpstr>
      <vt:lpstr>Applying Goal-Oriented Action Planning to Games</vt:lpstr>
      <vt:lpstr>הקדמה</vt:lpstr>
      <vt:lpstr>איך AI עבד לפני GOAP</vt:lpstr>
      <vt:lpstr>מצגת של PowerPoint‏</vt:lpstr>
      <vt:lpstr>GOAP – Goal-Oriented Action Planning</vt:lpstr>
      <vt:lpstr>Goal</vt:lpstr>
      <vt:lpstr>Action פעולה) ( </vt:lpstr>
      <vt:lpstr>WorldState</vt:lpstr>
      <vt:lpstr>Plan</vt:lpstr>
      <vt:lpstr>Planner</vt:lpstr>
      <vt:lpstr>איך זה עובד אצלנו?</vt:lpstr>
      <vt:lpstr>עלות ( זמן)</vt:lpstr>
      <vt:lpstr>העדפה אישית</vt:lpstr>
      <vt:lpstr> Urgent / Critical ספי דחיפות</vt:lpstr>
      <vt:lpstr>הנוסחה לחישוב הציון לתכנית</vt:lpstr>
      <vt:lpstr>וכדי לסגור הכל ביחד.. </vt:lpstr>
      <vt:lpstr>Why GOAP?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Applying Goal-Oriented Action Planning to Games</dc:title>
  <dc:creator>ori mimon</dc:creator>
  <cp:lastModifiedBy>אביב נאמן</cp:lastModifiedBy>
  <cp:revision>28</cp:revision>
  <dcterms:created xsi:type="dcterms:W3CDTF">2026-01-08T15:14:44Z</dcterms:created>
  <dcterms:modified xsi:type="dcterms:W3CDTF">2026-01-14T15:59:45Z</dcterms:modified>
</cp:coreProperties>
</file>